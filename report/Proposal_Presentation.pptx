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0" d="100"/>
          <a:sy n="80" d="100"/>
        </p:scale>
        <p:origin x="691"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E2761"/>
                </a:solidFill>
                <a:latin typeface="Calibri"/>
              </a:defRPr>
            </a:pPr>
            <a:r>
              <a:rPr lang="en-US" sz="1400" b="0" i="0" u="none" strike="noStrike">
                <a:solidFill>
                  <a:srgbClr val="1E2761"/>
                </a:solidFill>
                <a:latin typeface="Calibri"/>
              </a:rPr>
              <a:t>Class Balance</a:t>
            </a:r>
          </a:p>
        </c:rich>
      </c:tx>
      <c:overlay val="0"/>
    </c:title>
    <c:autoTitleDeleted val="0"/>
    <c:plotArea>
      <c:layout/>
      <c:doughnutChart>
        <c:varyColors val="1"/>
        <c:ser>
          <c:idx val="0"/>
          <c:order val="0"/>
          <c:tx>
            <c:strRef>
              <c:f>Sheet1!$B$1</c:f>
              <c:strCache>
                <c:ptCount val="1"/>
                <c:pt idx="0">
                  <c:v>Class balance</c:v>
                </c:pt>
              </c:strCache>
            </c:strRef>
          </c:tx>
          <c:spPr>
            <a:solidFill>
              <a:schemeClr val="accent1"/>
            </a:solidFill>
            <a:ln w="9525" cap="flat">
              <a:solidFill>
                <a:srgbClr val="F9F9F9"/>
              </a:solidFill>
              <a:prstDash val="solid"/>
              <a:round/>
            </a:ln>
            <a:effectLst/>
          </c:spPr>
          <c:dPt>
            <c:idx val="0"/>
            <c:bubble3D val="0"/>
            <c:spPr>
              <a:solidFill>
                <a:srgbClr val="CADCFC"/>
              </a:solidFill>
              <a:effectLst/>
            </c:spPr>
            <c:extLst>
              <c:ext xmlns:c16="http://schemas.microsoft.com/office/drawing/2014/chart" uri="{C3380CC4-5D6E-409C-BE32-E72D297353CC}">
                <c16:uniqueId val="{00000001-6D14-4EAB-8731-391B63177CCA}"/>
              </c:ext>
            </c:extLst>
          </c:dPt>
          <c:dPt>
            <c:idx val="1"/>
            <c:bubble3D val="0"/>
            <c:spPr>
              <a:solidFill>
                <a:srgbClr val="B5433D"/>
              </a:solidFill>
              <a:effectLst/>
            </c:spPr>
            <c:extLst>
              <c:ext xmlns:c16="http://schemas.microsoft.com/office/drawing/2014/chart" uri="{C3380CC4-5D6E-409C-BE32-E72D297353CC}">
                <c16:uniqueId val="{00000003-6D14-4EAB-8731-391B63177CCA}"/>
              </c:ext>
            </c:extLst>
          </c:dPt>
          <c:dLbls>
            <c:dLbl>
              <c:idx val="0"/>
              <c:numFmt formatCode="0%" sourceLinked="0"/>
              <c:spPr/>
              <c:txPr>
                <a:bodyPr/>
                <a:lstStyle/>
                <a:p>
                  <a:pPr>
                    <a:defRPr sz="11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6D14-4EAB-8731-391B63177CCA}"/>
                </c:ext>
              </c:extLst>
            </c:dLbl>
            <c:dLbl>
              <c:idx val="1"/>
              <c:numFmt formatCode="0%" sourceLinked="0"/>
              <c:spPr/>
              <c:txPr>
                <a:bodyPr/>
                <a:lstStyle/>
                <a:p>
                  <a:pPr>
                    <a:defRPr sz="11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6D14-4EAB-8731-391B63177CCA}"/>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Not Bankrupt (96.77%)</c:v>
                </c:pt>
                <c:pt idx="1">
                  <c:v>Bankrupt (3.23%)</c:v>
                </c:pt>
              </c:strCache>
            </c:strRef>
          </c:cat>
          <c:val>
            <c:numRef>
              <c:f>Sheet1!$B$2:$B$3</c:f>
              <c:numCache>
                <c:formatCode>General</c:formatCode>
                <c:ptCount val="2"/>
                <c:pt idx="0">
                  <c:v>96.77</c:v>
                </c:pt>
                <c:pt idx="1">
                  <c:v>3.23</c:v>
                </c:pt>
              </c:numCache>
            </c:numRef>
          </c:val>
          <c:extLst>
            <c:ext xmlns:c16="http://schemas.microsoft.com/office/drawing/2014/chart" uri="{C3380CC4-5D6E-409C-BE32-E72D297353CC}">
              <c16:uniqueId val="{00000004-6D14-4EAB-8731-391B63177CCA}"/>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txPr>
        <a:bodyPr/>
        <a:lstStyle/>
        <a:p>
          <a:pPr>
            <a:defRPr sz="1100">
              <a:solidFill>
                <a:srgbClr val="1A1A2E"/>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5451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30 seconds)</a:t>
            </a:r>
          </a:p>
          <a:p>
            <a:r>
              <a:t>Good morning. We are Group 2026-Y2-S1-MET-16. Our project is about predicting company bankruptcy with machine learning. In the next 15 minutes we will show the problem, our dataset, why it fits, the challenges, our plan, and how we plan to use AI tools.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30 seconds)</a:t>
            </a:r>
          </a:p>
          <a:p>
            <a:r>
              <a:t>This is our plan for the talk. Six short parts: the problem, the dataset, why the dataset is a good fit, the challenges, our ML approach, and our plan for using AI tools. Each part is about two minutes.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1.5 minutes)</a:t>
            </a:r>
          </a:p>
          <a:p>
            <a:r>
              <a:t>Our problem is in finance, in credit risk. A bank must decide if a company will be able to repay a loan. Today, many analysts check a few ratios by hand, like the Altman Z-score. This is slow and can miss complex patterns. Bankruptcies are also rare, so the warning signs are easy to miss. Our question is: can a company's financial ratios warn us before it happens? Our task is a yes-or-no prediction: bankrupt or not bankrupt. Two key words: bankrupt means the company cannot pay its debts, and a financial ratio is one money figure divided by another, for example profit divided by total assets.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2 minutes)</a:t>
            </a:r>
          </a:p>
          <a:p>
            <a:r>
              <a:t>The module coordinators gave us this dataset: the Taiwanese Bankruptcy Prediction dataset from the UCI Machine Learning Repository. The link is on the slide. It was made by Deron Liang and Chih-Fong Tsai, with data from the Taiwan Economic Journal between 1999 and 2009. It was used in a research paper in 2016. It is one CSV file with 6,819 companies and 95 financial ratios. The answer column is called Bankrupt, where 1 means bankrupt. There are no missing values, but only 3.23 percent of the companies are bankrupt.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1.5 minutes)</a:t>
            </a:r>
          </a:p>
          <a:p>
            <a:r>
              <a:t>The table has 6,819 rows and 96 columns: 95 ratios and one answer column. The chart shows the main problem: 96.77 percent healthy and only 3.23 percent bankrupt, which is 220 companies. On the right, the 95 ratios fall into five groups: profitability, liquidity and solvency, leverage, efficiency, and growth. In simple words: how much profit the company makes, whether it can pay its bills, how much it borrows, how well it uses what it owns, and how fast it grows.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1.5 minutes)</a:t>
            </a:r>
          </a:p>
          <a:p>
            <a:r>
              <a:t>Why is this dataset a good fit? First, it was made for bankruptcy prediction and used in a published paper, so it is real. Second, all features are numbers, so models can use them directly. Third, it is clean: no missing values and no duplicate rows. Only one column, Net Income Flag, has the same value for every company, so we will drop it. Fourth, 6,819 companies is enough for training and testing. The main limitation is that very few companies are bankrupt. We will handle this with class weights or resampling, and we will use recall and F1 instead of accuracy.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2 minutes)</a:t>
            </a:r>
          </a:p>
          <a:p>
            <a:r>
              <a:t>We expect five challenges, and we have a plan for each one. One: class imbalance. A model that always says 'not bankrupt' is 96.77 percent correct but useless. We will use class weights or resampling and judge models with recall and F1. Two: many similar ratios. We will check correlations and remove very similar ones. Three: extreme values. A few ratios, like Operating Expense Rate, reach billions while most are between 0 and 1. We will treat extreme values and scale the ratios. Four: complex models are hard to explain, so we will compare simple models with stronger ones. Five: the data is from Taiwan, 1999 to 2009, so we will say clearly that results may not transfer to other places or years.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2.5 minutes)</a:t>
            </a:r>
          </a:p>
          <a:p>
            <a:r>
              <a:t>This is our pipeline, in five steps. One: clean the data, remove the constant column, treat extreme values, and scale the ratios. Two: explore the data with charts, correlations and a PCA view. Three: fix the imbalance with class weights or SMOTE, on the training data only. Four: train and tune six models: SVM, XGBoost, KNN, Gradient Boosting, AdaBoost and Naive Bayes. They learn in different ways: KNN and Naive Bayes are simple, SVM is an all-rounder, and the boosting models are strong but harder to explain. Five: test and compare. We keep a separate test set and use cross-validation. We will not trust accuracy. We will use recall, precision, F1, ROC-AUC and PR-AUC, because missing a real bankruptcy costs more than a false alarm.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1.5 minutes)</a:t>
            </a:r>
          </a:p>
          <a:p>
            <a:r>
              <a:t>This is our plan for generative AI tools. We may use ChatGPT or Claude to help write and fix code, and to help explain charts. We may use Grammarly or Claude to improve the wording of the report. Coding help is moderate; the others are minimal. For every use we have a check: we run all code and check the output, we compare with our own charts, and the ideas stay ours. This is a first plan. Our final AI declaration will show what we really used, and we will keep a short record of 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1 minute)</a:t>
            </a:r>
          </a:p>
          <a:p>
            <a:r>
              <a:t>These are our goals. A clean, well-explained dataset. Six tuned models that beat the 'always say not bankrupt' baseline, especially on recall. A fair comparison between simple models and stronger ones. A list of the ratios most linked to bankruptcy risk. And a short discussion of ethics: fairness, bias, and whether the results work on other data. These are goals, not results. The real results depend on the work ahead.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30 seconds)</a:t>
            </a:r>
          </a:p>
          <a:p>
            <a:r>
              <a:t>To finish: we have a real finance problem, a dataset that fits it, and a clear plan. Our data has 6,819 companies and 95 ratios, but only 3.23 percent went bankrupt, so we will be careful with imbalance and with metrics. Thank you. We are happy to answer your questions.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txBody>
          <a:bodyPr/>
          <a:lstStyle/>
          <a:p>
            <a:endParaRPr lang="en-US"/>
          </a:p>
        </p:txBody>
      </p:sp>
      <p:sp>
        <p:nvSpPr>
          <p:cNvPr id="3" name="Text 1"/>
          <p:cNvSpPr/>
          <p:nvPr/>
        </p:nvSpPr>
        <p:spPr>
          <a:xfrm>
            <a:off x="457200" y="6473952"/>
            <a:ext cx="10725912" cy="274320"/>
          </a:xfrm>
          <a:prstGeom prst="rect">
            <a:avLst/>
          </a:prstGeom>
          <a:noFill/>
          <a:ln/>
        </p:spPr>
        <p:txBody>
          <a:bodyPr wrap="square" rtlCol="0" anchor="ctr"/>
          <a:lstStyle/>
          <a:p>
            <a:pPr marL="0" indent="0">
              <a:buNone/>
            </a:pPr>
            <a:r>
              <a:rPr lang="en-US" sz="900" dirty="0">
                <a:solidFill>
                  <a:srgbClr val="5B6472"/>
                </a:solidFill>
                <a:latin typeface="Calibri" pitchFamily="34" charset="0"/>
                <a:ea typeface="Calibri" pitchFamily="34" charset="-122"/>
                <a:cs typeface="Calibri" pitchFamily="34" charset="-120"/>
              </a:rPr>
              <a:t>IT2011 · AI &amp; Machine Learning — Proposal Presentation</a:t>
            </a:r>
            <a:endParaRPr lang="en-US" sz="900" dirty="0"/>
          </a:p>
        </p:txBody>
      </p:sp>
      <p:sp>
        <p:nvSpPr>
          <p:cNvPr id="4" name="Text 2"/>
          <p:cNvSpPr/>
          <p:nvPr/>
        </p:nvSpPr>
        <p:spPr>
          <a:xfrm>
            <a:off x="9445752" y="6473952"/>
            <a:ext cx="228600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Bankruptcy Prediction</a:t>
            </a: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microsoft.com/office/2007/relationships/hdphoto" Target="../media/hdphoto1.wdp"/><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hyperlink" Target="https://archive.ics.uci.edu/dataset/572/taiwanese+bankruptcy+prediction"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41DDCD9-9EBE-CD7F-8E43-FE05F9496441}"/>
              </a:ext>
            </a:extLst>
          </p:cNvPr>
          <p:cNvSpPr/>
          <p:nvPr/>
        </p:nvSpPr>
        <p:spPr>
          <a:xfrm>
            <a:off x="0" y="0"/>
            <a:ext cx="12192000" cy="68580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hape 1"/>
          <p:cNvSpPr/>
          <p:nvPr/>
        </p:nvSpPr>
        <p:spPr>
          <a:xfrm>
            <a:off x="8256887" y="-1728505"/>
            <a:ext cx="5980465" cy="5980465"/>
          </a:xfrm>
          <a:prstGeom prst="ellipse">
            <a:avLst/>
          </a:prstGeom>
          <a:ln/>
        </p:spPr>
        <p:style>
          <a:lnRef idx="1">
            <a:schemeClr val="accent5"/>
          </a:lnRef>
          <a:fillRef idx="3">
            <a:schemeClr val="accent5"/>
          </a:fillRef>
          <a:effectRef idx="2">
            <a:schemeClr val="accent5"/>
          </a:effectRef>
          <a:fontRef idx="minor">
            <a:schemeClr val="lt1"/>
          </a:fontRef>
        </p:style>
        <p:txBody>
          <a:bodyPr/>
          <a:lstStyle/>
          <a:p>
            <a:endParaRPr lang="en-US"/>
          </a:p>
        </p:txBody>
      </p:sp>
      <p:sp>
        <p:nvSpPr>
          <p:cNvPr id="4" name="Shape 2"/>
          <p:cNvSpPr/>
          <p:nvPr/>
        </p:nvSpPr>
        <p:spPr>
          <a:xfrm>
            <a:off x="-1280160" y="4572000"/>
            <a:ext cx="3291840" cy="3291840"/>
          </a:xfrm>
          <a:prstGeom prst="ellipse">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a:lstStyle/>
          <a:p>
            <a:endParaRPr lang="en-US"/>
          </a:p>
        </p:txBody>
      </p:sp>
      <p:sp>
        <p:nvSpPr>
          <p:cNvPr id="5" name="Text 3"/>
          <p:cNvSpPr/>
          <p:nvPr/>
        </p:nvSpPr>
        <p:spPr>
          <a:xfrm>
            <a:off x="822960" y="1417320"/>
            <a:ext cx="10515600" cy="365760"/>
          </a:xfrm>
          <a:prstGeom prst="rect">
            <a:avLst/>
          </a:prstGeom>
          <a:noFill/>
          <a:ln/>
        </p:spPr>
        <p:txBody>
          <a:bodyPr wrap="square" rtlCol="0" anchor="ctr"/>
          <a:lstStyle/>
          <a:p>
            <a:pPr marL="0" indent="0">
              <a:buNone/>
            </a:pPr>
            <a:r>
              <a:rPr lang="en-US" sz="1400" b="1" kern="0" spc="200" dirty="0">
                <a:solidFill>
                  <a:srgbClr val="CADCFC"/>
                </a:solidFill>
                <a:latin typeface="Calibri" pitchFamily="34" charset="0"/>
                <a:ea typeface="Calibri" pitchFamily="34" charset="-122"/>
                <a:cs typeface="Calibri" pitchFamily="34" charset="-120"/>
              </a:rPr>
              <a:t>IT2011 — ARTIFICIAL INTELLIGENCE AND MACHINE LEARNING</a:t>
            </a:r>
            <a:endParaRPr lang="en-US" sz="1400" dirty="0"/>
          </a:p>
        </p:txBody>
      </p:sp>
      <p:sp>
        <p:nvSpPr>
          <p:cNvPr id="6" name="Text 4"/>
          <p:cNvSpPr/>
          <p:nvPr/>
        </p:nvSpPr>
        <p:spPr>
          <a:xfrm>
            <a:off x="822960" y="1874520"/>
            <a:ext cx="10515600" cy="1005840"/>
          </a:xfrm>
          <a:prstGeom prst="rect">
            <a:avLst/>
          </a:prstGeom>
          <a:noFill/>
          <a:ln/>
        </p:spPr>
        <p:txBody>
          <a:bodyPr wrap="square"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Predicting Company Bankruptcy</a:t>
            </a:r>
            <a:endParaRPr lang="en-US" sz="4400" dirty="0"/>
          </a:p>
        </p:txBody>
      </p:sp>
      <p:sp>
        <p:nvSpPr>
          <p:cNvPr id="7" name="Text 5"/>
          <p:cNvSpPr/>
          <p:nvPr/>
        </p:nvSpPr>
        <p:spPr>
          <a:xfrm>
            <a:off x="822960" y="2788920"/>
            <a:ext cx="9875520" cy="640080"/>
          </a:xfrm>
          <a:prstGeom prst="rect">
            <a:avLst/>
          </a:prstGeom>
          <a:noFill/>
          <a:ln/>
        </p:spPr>
        <p:txBody>
          <a:bodyPr wrap="square" rtlCol="0" anchor="ctr"/>
          <a:lstStyle/>
          <a:p>
            <a:pPr marL="0" indent="0">
              <a:buNone/>
            </a:pPr>
            <a:r>
              <a:rPr lang="en-US" sz="1800" i="1" dirty="0">
                <a:solidFill>
                  <a:srgbClr val="CADCFC"/>
                </a:solidFill>
                <a:latin typeface="Calibri" pitchFamily="34" charset="0"/>
                <a:ea typeface="Calibri" pitchFamily="34" charset="-122"/>
                <a:cs typeface="Calibri" pitchFamily="34" charset="-120"/>
              </a:rPr>
              <a:t>A machine learning proposal using the Taiwanese Bankruptcy Prediction dataset</a:t>
            </a:r>
            <a:endParaRPr lang="en-US" sz="1800" dirty="0"/>
          </a:p>
        </p:txBody>
      </p:sp>
      <p:sp>
        <p:nvSpPr>
          <p:cNvPr id="8" name="Shape 6"/>
          <p:cNvSpPr/>
          <p:nvPr/>
        </p:nvSpPr>
        <p:spPr>
          <a:xfrm>
            <a:off x="822960" y="3703320"/>
            <a:ext cx="2926080" cy="0"/>
          </a:xfrm>
          <a:prstGeom prst="line">
            <a:avLst/>
          </a:prstGeom>
          <a:noFill/>
          <a:ln w="25400">
            <a:solidFill>
              <a:srgbClr val="C9A227"/>
            </a:solidFill>
            <a:prstDash val="solid"/>
          </a:ln>
        </p:spPr>
        <p:txBody>
          <a:bodyPr/>
          <a:lstStyle/>
          <a:p>
            <a:endParaRPr lang="en-US"/>
          </a:p>
        </p:txBody>
      </p:sp>
      <p:sp>
        <p:nvSpPr>
          <p:cNvPr id="9" name="Text 7"/>
          <p:cNvSpPr/>
          <p:nvPr/>
        </p:nvSpPr>
        <p:spPr>
          <a:xfrm>
            <a:off x="822960" y="4770120"/>
            <a:ext cx="9144000" cy="1188720"/>
          </a:xfrm>
          <a:prstGeom prst="rect">
            <a:avLst/>
          </a:prstGeom>
          <a:noFill/>
          <a:ln/>
        </p:spPr>
        <p:txBody>
          <a:bodyPr wrap="square" rtlCol="0" anchor="ctr"/>
          <a:lstStyle/>
          <a:p>
            <a:pPr marL="0" indent="0">
              <a:lnSpc>
                <a:spcPts val="2200"/>
              </a:lnSpc>
              <a:buNone/>
            </a:pPr>
            <a:r>
              <a:rPr lang="en-US" sz="1300" b="1" dirty="0">
                <a:solidFill>
                  <a:srgbClr val="EEF3FC"/>
                </a:solidFill>
                <a:latin typeface="Calibri" pitchFamily="34" charset="0"/>
                <a:ea typeface="Calibri" pitchFamily="34" charset="-122"/>
                <a:cs typeface="Calibri" pitchFamily="34" charset="-120"/>
              </a:rPr>
              <a:t>Group Proposal Presentation   |   Group ID: 2026-Y2-S1-MET-16</a:t>
            </a:r>
            <a:endParaRPr lang="en-US" sz="1300" dirty="0"/>
          </a:p>
          <a:p>
            <a:pPr marL="0" indent="0">
              <a:lnSpc>
                <a:spcPts val="2200"/>
              </a:lnSpc>
              <a:buNone/>
            </a:pPr>
            <a:r>
              <a:rPr lang="en-US" sz="1300" dirty="0">
                <a:solidFill>
                  <a:srgbClr val="EEF3FC"/>
                </a:solidFill>
                <a:latin typeface="Calibri" pitchFamily="34" charset="0"/>
                <a:ea typeface="Calibri" pitchFamily="34" charset="-122"/>
                <a:cs typeface="Calibri" pitchFamily="34" charset="-120"/>
              </a:rPr>
              <a:t>Group Members (IT numbers):</a:t>
            </a:r>
          </a:p>
          <a:p>
            <a:pPr>
              <a:lnSpc>
                <a:spcPts val="2200"/>
              </a:lnSpc>
            </a:pPr>
            <a:r>
              <a:rPr lang="en-US" sz="1300" dirty="0">
                <a:solidFill>
                  <a:srgbClr val="EEF3FC"/>
                </a:solidFill>
                <a:latin typeface="Calibri" pitchFamily="34" charset="0"/>
                <a:ea typeface="Calibri" pitchFamily="34" charset="-122"/>
                <a:cs typeface="Calibri" pitchFamily="34" charset="-120"/>
              </a:rPr>
              <a:t>	IT25102100  |  IT25102101  |  IT25102102  |  IT25102103  |  IT25102104  |  IT25102105</a:t>
            </a:r>
          </a:p>
          <a:p>
            <a:pPr marL="0" indent="0">
              <a:lnSpc>
                <a:spcPts val="2200"/>
              </a:lnSpc>
              <a:buNone/>
            </a:pPr>
            <a:r>
              <a:rPr lang="en-US" sz="1300" dirty="0">
                <a:solidFill>
                  <a:srgbClr val="EEF3FC"/>
                </a:solidFill>
                <a:latin typeface="Calibri" pitchFamily="34" charset="0"/>
                <a:ea typeface="Calibri" pitchFamily="34" charset="-122"/>
                <a:cs typeface="Calibri" pitchFamily="34" charset="-120"/>
              </a:rPr>
              <a:t>Faculty of Computing · Year 2, Semester 1 (2026)</a:t>
            </a:r>
            <a:endParaRPr lang="en-US" sz="1300" dirty="0"/>
          </a:p>
        </p:txBody>
      </p:sp>
      <p:sp>
        <p:nvSpPr>
          <p:cNvPr id="10" name="Shape 8"/>
          <p:cNvSpPr/>
          <p:nvPr/>
        </p:nvSpPr>
        <p:spPr>
          <a:xfrm>
            <a:off x="10195560" y="5074920"/>
            <a:ext cx="1051560" cy="1051560"/>
          </a:xfrm>
          <a:prstGeom prst="ellipse">
            <a:avLst/>
          </a:prstGeom>
          <a:ln/>
        </p:spPr>
        <p:style>
          <a:lnRef idx="0">
            <a:schemeClr val="accent1"/>
          </a:lnRef>
          <a:fillRef idx="3">
            <a:schemeClr val="accent1"/>
          </a:fillRef>
          <a:effectRef idx="3">
            <a:schemeClr val="accent1"/>
          </a:effectRef>
          <a:fontRef idx="minor">
            <a:schemeClr val="lt1"/>
          </a:fontRef>
        </p:style>
        <p:txBody>
          <a:bodyPr/>
          <a:lstStyle/>
          <a:p>
            <a:endParaRPr lang="en-US"/>
          </a:p>
        </p:txBody>
      </p:sp>
      <p:pic>
        <p:nvPicPr>
          <p:cNvPr id="11" name="Image 0" descr="/home/claude/pptx/icons/building.png"/>
          <p:cNvPicPr>
            <a:picLocks noChangeAspect="1"/>
          </p:cNvPicPr>
          <p:nvPr/>
        </p:nvPicPr>
        <p:blipFill>
          <a:blip r:embed="rId3">
            <a:lum bright="70000" contrast="-70000"/>
          </a:blip>
          <a:stretch>
            <a:fillRect/>
          </a:stretch>
        </p:blipFill>
        <p:spPr>
          <a:xfrm>
            <a:off x="10468966" y="5348326"/>
            <a:ext cx="504749" cy="50474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411480"/>
            <a:ext cx="7315200" cy="64008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What We'll Cover</a:t>
            </a:r>
            <a:endParaRPr lang="en-US" sz="3200" dirty="0"/>
          </a:p>
        </p:txBody>
      </p:sp>
      <p:sp>
        <p:nvSpPr>
          <p:cNvPr id="3" name="Text 1"/>
          <p:cNvSpPr/>
          <p:nvPr/>
        </p:nvSpPr>
        <p:spPr>
          <a:xfrm>
            <a:off x="548640" y="960120"/>
            <a:ext cx="7315200" cy="365760"/>
          </a:xfrm>
          <a:prstGeom prst="rect">
            <a:avLst/>
          </a:prstGeom>
          <a:noFill/>
          <a:ln/>
        </p:spPr>
        <p:txBody>
          <a:bodyPr wrap="square" rtlCol="0" anchor="ctr"/>
          <a:lstStyle/>
          <a:p>
            <a:pPr marL="0" indent="0">
              <a:buNone/>
            </a:pPr>
            <a:r>
              <a:rPr lang="en-US" sz="1400" i="1" dirty="0">
                <a:solidFill>
                  <a:srgbClr val="5B6472"/>
                </a:solidFill>
              </a:rPr>
              <a:t>Our 15-minute talk, in 6 simple parts</a:t>
            </a:r>
            <a:endParaRPr lang="en-US" sz="1400" dirty="0"/>
          </a:p>
        </p:txBody>
      </p:sp>
      <p:sp>
        <p:nvSpPr>
          <p:cNvPr id="4" name="Shape 2"/>
          <p:cNvSpPr/>
          <p:nvPr/>
        </p:nvSpPr>
        <p:spPr>
          <a:xfrm>
            <a:off x="548640" y="1600200"/>
            <a:ext cx="5440680" cy="1481328"/>
          </a:xfrm>
          <a:prstGeom prst="roundRect">
            <a:avLst>
              <a:gd name="adj" fmla="val 4938"/>
            </a:avLst>
          </a:prstGeom>
          <a:solidFill>
            <a:srgbClr val="EEF3FC"/>
          </a:solidFill>
          <a:ln/>
          <a:effectLst>
            <a:outerShdw blurRad="76200" dist="25400" dir="5400000" algn="bl" rotWithShape="0">
              <a:srgbClr val="9AA5B1">
                <a:alpha val="25000"/>
              </a:srgbClr>
            </a:outerShdw>
          </a:effectLst>
        </p:spPr>
        <p:txBody>
          <a:bodyPr/>
          <a:lstStyle/>
          <a:p>
            <a:endParaRPr lang="en-US"/>
          </a:p>
        </p:txBody>
      </p:sp>
      <p:sp>
        <p:nvSpPr>
          <p:cNvPr id="5" name="Shape 3"/>
          <p:cNvSpPr/>
          <p:nvPr/>
        </p:nvSpPr>
        <p:spPr>
          <a:xfrm>
            <a:off x="804672" y="1975104"/>
            <a:ext cx="731520" cy="731520"/>
          </a:xfrm>
          <a:prstGeom prst="ellipse">
            <a:avLst/>
          </a:prstGeom>
          <a:ln/>
        </p:spPr>
        <p:style>
          <a:lnRef idx="1">
            <a:schemeClr val="accent5"/>
          </a:lnRef>
          <a:fillRef idx="3">
            <a:schemeClr val="accent5"/>
          </a:fillRef>
          <a:effectRef idx="2">
            <a:schemeClr val="accent5"/>
          </a:effectRef>
          <a:fontRef idx="minor">
            <a:schemeClr val="lt1"/>
          </a:fontRef>
        </p:style>
        <p:txBody>
          <a:bodyPr/>
          <a:lstStyle/>
          <a:p>
            <a:endParaRPr lang="en-US"/>
          </a:p>
        </p:txBody>
      </p:sp>
      <p:pic>
        <p:nvPicPr>
          <p:cNvPr id="6" name="Image 0" descr="/home/claude/pptx/icons/building.png"/>
          <p:cNvPicPr>
            <a:picLocks noChangeAspect="1"/>
          </p:cNvPicPr>
          <p:nvPr/>
        </p:nvPicPr>
        <p:blipFill>
          <a:blip r:embed="rId3">
            <a:lum bright="70000" contrast="-70000"/>
            <a:extLst>
              <a:ext uri="{BEBA8EAE-BF5A-486C-A8C5-ECC9F3942E4B}">
                <a14:imgProps xmlns:a14="http://schemas.microsoft.com/office/drawing/2010/main">
                  <a14:imgLayer r:embed="rId4">
                    <a14:imgEffect>
                      <a14:colorTemperature colorTemp="4700"/>
                    </a14:imgEffect>
                    <a14:imgEffect>
                      <a14:saturation sat="0"/>
                    </a14:imgEffect>
                  </a14:imgLayer>
                </a14:imgProps>
              </a:ext>
            </a:extLst>
          </a:blip>
          <a:stretch>
            <a:fillRect/>
          </a:stretch>
        </p:blipFill>
        <p:spPr>
          <a:xfrm>
            <a:off x="994867" y="2165299"/>
            <a:ext cx="351130" cy="351130"/>
          </a:xfrm>
          <a:prstGeom prst="rect">
            <a:avLst/>
          </a:prstGeom>
        </p:spPr>
      </p:pic>
      <p:sp>
        <p:nvSpPr>
          <p:cNvPr id="7" name="Text 4"/>
          <p:cNvSpPr/>
          <p:nvPr/>
        </p:nvSpPr>
        <p:spPr>
          <a:xfrm>
            <a:off x="731520" y="1673352"/>
            <a:ext cx="822960" cy="274320"/>
          </a:xfrm>
          <a:prstGeom prst="rect">
            <a:avLst/>
          </a:prstGeom>
          <a:noFill/>
          <a:ln/>
        </p:spPr>
        <p:txBody>
          <a:bodyPr wrap="square" rtlCol="0" anchor="ctr"/>
          <a:lstStyle/>
          <a:p>
            <a:pPr marL="0" indent="0">
              <a:buNone/>
            </a:pPr>
            <a:r>
              <a:rPr lang="en-US" sz="1100" b="1" dirty="0">
                <a:solidFill>
                  <a:srgbClr val="C9A227"/>
                </a:solidFill>
                <a:latin typeface="Calibri" pitchFamily="34" charset="0"/>
                <a:ea typeface="Calibri" pitchFamily="34" charset="-122"/>
                <a:cs typeface="Calibri" pitchFamily="34" charset="-120"/>
              </a:rPr>
              <a:t>01</a:t>
            </a:r>
            <a:endParaRPr lang="en-US" sz="1100" dirty="0"/>
          </a:p>
        </p:txBody>
      </p:sp>
      <p:sp>
        <p:nvSpPr>
          <p:cNvPr id="8" name="Text 5"/>
          <p:cNvSpPr/>
          <p:nvPr/>
        </p:nvSpPr>
        <p:spPr>
          <a:xfrm>
            <a:off x="1691640" y="1801368"/>
            <a:ext cx="4069080" cy="45720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Problem Domain</a:t>
            </a:r>
            <a:endParaRPr lang="en-US" sz="1600" dirty="0"/>
          </a:p>
        </p:txBody>
      </p:sp>
      <p:sp>
        <p:nvSpPr>
          <p:cNvPr id="9" name="Text 6"/>
          <p:cNvSpPr/>
          <p:nvPr/>
        </p:nvSpPr>
        <p:spPr>
          <a:xfrm>
            <a:off x="1691640" y="2286000"/>
            <a:ext cx="4069080" cy="640080"/>
          </a:xfrm>
          <a:prstGeom prst="rect">
            <a:avLst/>
          </a:prstGeom>
          <a:noFill/>
          <a:ln/>
        </p:spPr>
        <p:txBody>
          <a:bodyPr wrap="square" rtlCol="0" anchor="ctr"/>
          <a:lstStyle/>
          <a:p>
            <a:pPr marL="0" indent="0">
              <a:buNone/>
            </a:pPr>
            <a:r>
              <a:rPr lang="en-US" sz="1150" dirty="0">
                <a:solidFill>
                  <a:srgbClr val="5B6472"/>
                </a:solidFill>
                <a:latin typeface="Calibri" pitchFamily="34" charset="0"/>
                <a:ea typeface="Calibri" pitchFamily="34" charset="-122"/>
                <a:cs typeface="Calibri" pitchFamily="34" charset="-120"/>
              </a:rPr>
              <a:t>The real-world problem and why it matters</a:t>
            </a:r>
            <a:endParaRPr lang="en-US" sz="1150" dirty="0"/>
          </a:p>
        </p:txBody>
      </p:sp>
      <p:sp>
        <p:nvSpPr>
          <p:cNvPr id="10" name="Shape 7"/>
          <p:cNvSpPr/>
          <p:nvPr/>
        </p:nvSpPr>
        <p:spPr>
          <a:xfrm>
            <a:off x="6309360" y="1600200"/>
            <a:ext cx="5440680" cy="1481328"/>
          </a:xfrm>
          <a:prstGeom prst="roundRect">
            <a:avLst>
              <a:gd name="adj" fmla="val 4938"/>
            </a:avLst>
          </a:prstGeom>
          <a:solidFill>
            <a:srgbClr val="EEF3FC"/>
          </a:solidFill>
          <a:ln/>
          <a:effectLst>
            <a:outerShdw blurRad="76200" dist="25400" dir="5400000" algn="bl" rotWithShape="0">
              <a:srgbClr val="9AA5B1">
                <a:alpha val="25000"/>
              </a:srgbClr>
            </a:outerShdw>
          </a:effectLst>
        </p:spPr>
        <p:txBody>
          <a:bodyPr/>
          <a:lstStyle/>
          <a:p>
            <a:endParaRPr lang="en-US"/>
          </a:p>
        </p:txBody>
      </p:sp>
      <p:sp>
        <p:nvSpPr>
          <p:cNvPr id="11" name="Shape 8"/>
          <p:cNvSpPr/>
          <p:nvPr/>
        </p:nvSpPr>
        <p:spPr>
          <a:xfrm>
            <a:off x="6565392" y="1975104"/>
            <a:ext cx="731520" cy="731520"/>
          </a:xfrm>
          <a:prstGeom prst="ellipse">
            <a:avLst/>
          </a:prstGeom>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2" name="Image 1" descr="/home/claude/pptx/icons/database.png"/>
          <p:cNvPicPr>
            <a:picLocks noChangeAspect="1"/>
          </p:cNvPicPr>
          <p:nvPr/>
        </p:nvPicPr>
        <p:blipFill>
          <a:blip r:embed="rId5">
            <a:lum bright="70000" contrast="-70000"/>
          </a:blip>
          <a:stretch>
            <a:fillRect/>
          </a:stretch>
        </p:blipFill>
        <p:spPr>
          <a:xfrm>
            <a:off x="6755587" y="2165299"/>
            <a:ext cx="351130" cy="351130"/>
          </a:xfrm>
          <a:prstGeom prst="rect">
            <a:avLst/>
          </a:prstGeom>
        </p:spPr>
      </p:pic>
      <p:sp>
        <p:nvSpPr>
          <p:cNvPr id="13" name="Text 9"/>
          <p:cNvSpPr/>
          <p:nvPr/>
        </p:nvSpPr>
        <p:spPr>
          <a:xfrm>
            <a:off x="6492240" y="1673352"/>
            <a:ext cx="822960" cy="274320"/>
          </a:xfrm>
          <a:prstGeom prst="rect">
            <a:avLst/>
          </a:prstGeom>
          <a:noFill/>
          <a:ln/>
        </p:spPr>
        <p:txBody>
          <a:bodyPr wrap="square" rtlCol="0" anchor="ctr"/>
          <a:lstStyle/>
          <a:p>
            <a:pPr marL="0" indent="0">
              <a:buNone/>
            </a:pPr>
            <a:r>
              <a:rPr lang="en-US" sz="1100" b="1" dirty="0">
                <a:solidFill>
                  <a:srgbClr val="C9A227"/>
                </a:solidFill>
                <a:latin typeface="Calibri" pitchFamily="34" charset="0"/>
                <a:ea typeface="Calibri" pitchFamily="34" charset="-122"/>
                <a:cs typeface="Calibri" pitchFamily="34" charset="-120"/>
              </a:rPr>
              <a:t>02</a:t>
            </a:r>
            <a:endParaRPr lang="en-US" sz="1100" dirty="0"/>
          </a:p>
        </p:txBody>
      </p:sp>
      <p:sp>
        <p:nvSpPr>
          <p:cNvPr id="14" name="Text 10"/>
          <p:cNvSpPr/>
          <p:nvPr/>
        </p:nvSpPr>
        <p:spPr>
          <a:xfrm>
            <a:off x="7452360" y="1801368"/>
            <a:ext cx="4069080" cy="45720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Assigned Dataset</a:t>
            </a:r>
            <a:endParaRPr lang="en-US" sz="1600" dirty="0"/>
          </a:p>
        </p:txBody>
      </p:sp>
      <p:sp>
        <p:nvSpPr>
          <p:cNvPr id="15" name="Text 11"/>
          <p:cNvSpPr/>
          <p:nvPr/>
        </p:nvSpPr>
        <p:spPr>
          <a:xfrm>
            <a:off x="7452360" y="2286000"/>
            <a:ext cx="4069080" cy="640080"/>
          </a:xfrm>
          <a:prstGeom prst="rect">
            <a:avLst/>
          </a:prstGeom>
          <a:noFill/>
          <a:ln/>
        </p:spPr>
        <p:txBody>
          <a:bodyPr wrap="square" rtlCol="0" anchor="ctr"/>
          <a:lstStyle/>
          <a:p>
            <a:pPr marL="0" indent="0">
              <a:buNone/>
            </a:pPr>
            <a:r>
              <a:rPr lang="en-US" sz="1150" dirty="0">
                <a:solidFill>
                  <a:srgbClr val="5B6472"/>
                </a:solidFill>
                <a:latin typeface="Calibri" pitchFamily="34" charset="0"/>
                <a:ea typeface="Calibri" pitchFamily="34" charset="-122"/>
                <a:cs typeface="Calibri" pitchFamily="34" charset="-120"/>
              </a:rPr>
              <a:t>Where the data comes from and what is inside it</a:t>
            </a:r>
            <a:endParaRPr lang="en-US" sz="1150" dirty="0"/>
          </a:p>
        </p:txBody>
      </p:sp>
      <p:sp>
        <p:nvSpPr>
          <p:cNvPr id="16" name="Shape 12"/>
          <p:cNvSpPr/>
          <p:nvPr/>
        </p:nvSpPr>
        <p:spPr>
          <a:xfrm>
            <a:off x="548640" y="3337560"/>
            <a:ext cx="5440680" cy="1481328"/>
          </a:xfrm>
          <a:prstGeom prst="roundRect">
            <a:avLst>
              <a:gd name="adj" fmla="val 4938"/>
            </a:avLst>
          </a:prstGeom>
          <a:solidFill>
            <a:srgbClr val="EEF3FC"/>
          </a:solidFill>
          <a:ln/>
          <a:effectLst>
            <a:outerShdw blurRad="76200" dist="25400" dir="5400000" algn="bl" rotWithShape="0">
              <a:srgbClr val="9AA5B1">
                <a:alpha val="25000"/>
              </a:srgbClr>
            </a:outerShdw>
          </a:effectLst>
        </p:spPr>
        <p:txBody>
          <a:bodyPr/>
          <a:lstStyle/>
          <a:p>
            <a:endParaRPr lang="en-US"/>
          </a:p>
        </p:txBody>
      </p:sp>
      <p:sp>
        <p:nvSpPr>
          <p:cNvPr id="17" name="Shape 13"/>
          <p:cNvSpPr/>
          <p:nvPr/>
        </p:nvSpPr>
        <p:spPr>
          <a:xfrm>
            <a:off x="804672" y="3712464"/>
            <a:ext cx="731520" cy="731520"/>
          </a:xfrm>
          <a:prstGeom prst="ellipse">
            <a:avLst/>
          </a:prstGeom>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8" name="Image 2" descr="/home/claude/pptx/icons/check.png"/>
          <p:cNvPicPr>
            <a:picLocks noChangeAspect="1"/>
          </p:cNvPicPr>
          <p:nvPr/>
        </p:nvPicPr>
        <p:blipFill>
          <a:blip r:embed="rId6">
            <a:lum bright="70000" contrast="-70000"/>
          </a:blip>
          <a:stretch>
            <a:fillRect/>
          </a:stretch>
        </p:blipFill>
        <p:spPr>
          <a:xfrm>
            <a:off x="994867" y="3902659"/>
            <a:ext cx="351130" cy="351130"/>
          </a:xfrm>
          <a:prstGeom prst="rect">
            <a:avLst/>
          </a:prstGeom>
        </p:spPr>
      </p:pic>
      <p:sp>
        <p:nvSpPr>
          <p:cNvPr id="19" name="Text 14"/>
          <p:cNvSpPr/>
          <p:nvPr/>
        </p:nvSpPr>
        <p:spPr>
          <a:xfrm>
            <a:off x="731520" y="3410712"/>
            <a:ext cx="822960" cy="274320"/>
          </a:xfrm>
          <a:prstGeom prst="rect">
            <a:avLst/>
          </a:prstGeom>
          <a:noFill/>
          <a:ln/>
        </p:spPr>
        <p:txBody>
          <a:bodyPr wrap="square" rtlCol="0" anchor="ctr"/>
          <a:lstStyle/>
          <a:p>
            <a:pPr marL="0" indent="0">
              <a:buNone/>
            </a:pPr>
            <a:r>
              <a:rPr lang="en-US" sz="1100" b="1" dirty="0">
                <a:solidFill>
                  <a:srgbClr val="C9A227"/>
                </a:solidFill>
                <a:latin typeface="Calibri" pitchFamily="34" charset="0"/>
                <a:ea typeface="Calibri" pitchFamily="34" charset="-122"/>
                <a:cs typeface="Calibri" pitchFamily="34" charset="-120"/>
              </a:rPr>
              <a:t>03</a:t>
            </a:r>
            <a:endParaRPr lang="en-US" sz="1100" dirty="0"/>
          </a:p>
        </p:txBody>
      </p:sp>
      <p:sp>
        <p:nvSpPr>
          <p:cNvPr id="20" name="Text 15"/>
          <p:cNvSpPr/>
          <p:nvPr/>
        </p:nvSpPr>
        <p:spPr>
          <a:xfrm>
            <a:off x="1691640" y="3538728"/>
            <a:ext cx="4069080" cy="45720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Dataset Justification</a:t>
            </a:r>
            <a:endParaRPr lang="en-US" sz="1600" dirty="0"/>
          </a:p>
        </p:txBody>
      </p:sp>
      <p:sp>
        <p:nvSpPr>
          <p:cNvPr id="21" name="Text 16"/>
          <p:cNvSpPr/>
          <p:nvPr/>
        </p:nvSpPr>
        <p:spPr>
          <a:xfrm>
            <a:off x="1691640" y="4023360"/>
            <a:ext cx="4069080" cy="640080"/>
          </a:xfrm>
          <a:prstGeom prst="rect">
            <a:avLst/>
          </a:prstGeom>
          <a:noFill/>
          <a:ln/>
        </p:spPr>
        <p:txBody>
          <a:bodyPr wrap="square" rtlCol="0" anchor="ctr"/>
          <a:lstStyle/>
          <a:p>
            <a:pPr marL="0" indent="0">
              <a:buNone/>
            </a:pPr>
            <a:r>
              <a:rPr lang="en-US" sz="1150" dirty="0">
                <a:solidFill>
                  <a:srgbClr val="5B6472"/>
                </a:solidFill>
                <a:latin typeface="Calibri" pitchFamily="34" charset="0"/>
                <a:ea typeface="Calibri" pitchFamily="34" charset="-122"/>
                <a:cs typeface="Calibri" pitchFamily="34" charset="-120"/>
              </a:rPr>
              <a:t>Why this data is a good fit</a:t>
            </a:r>
            <a:endParaRPr lang="en-US" sz="1150" dirty="0"/>
          </a:p>
        </p:txBody>
      </p:sp>
      <p:sp>
        <p:nvSpPr>
          <p:cNvPr id="22" name="Shape 17"/>
          <p:cNvSpPr/>
          <p:nvPr/>
        </p:nvSpPr>
        <p:spPr>
          <a:xfrm>
            <a:off x="6309360" y="3337560"/>
            <a:ext cx="5440680" cy="1481328"/>
          </a:xfrm>
          <a:prstGeom prst="roundRect">
            <a:avLst>
              <a:gd name="adj" fmla="val 4938"/>
            </a:avLst>
          </a:prstGeom>
          <a:solidFill>
            <a:srgbClr val="EEF3FC"/>
          </a:solidFill>
          <a:ln/>
          <a:effectLst>
            <a:outerShdw blurRad="76200" dist="25400" dir="5400000" algn="bl" rotWithShape="0">
              <a:srgbClr val="9AA5B1">
                <a:alpha val="25000"/>
              </a:srgbClr>
            </a:outerShdw>
          </a:effectLst>
        </p:spPr>
        <p:txBody>
          <a:bodyPr/>
          <a:lstStyle/>
          <a:p>
            <a:endParaRPr lang="en-US"/>
          </a:p>
        </p:txBody>
      </p:sp>
      <p:sp>
        <p:nvSpPr>
          <p:cNvPr id="23" name="Shape 18"/>
          <p:cNvSpPr/>
          <p:nvPr/>
        </p:nvSpPr>
        <p:spPr>
          <a:xfrm>
            <a:off x="6565392" y="3712464"/>
            <a:ext cx="731520" cy="731520"/>
          </a:xfrm>
          <a:prstGeom prst="ellipse">
            <a:avLst/>
          </a:prstGeom>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24" name="Image 3" descr="/home/claude/pptx/icons/alert.png"/>
          <p:cNvPicPr>
            <a:picLocks noChangeAspect="1"/>
          </p:cNvPicPr>
          <p:nvPr/>
        </p:nvPicPr>
        <p:blipFill>
          <a:blip r:embed="rId7">
            <a:lum bright="70000" contrast="-70000"/>
          </a:blip>
          <a:stretch>
            <a:fillRect/>
          </a:stretch>
        </p:blipFill>
        <p:spPr>
          <a:xfrm>
            <a:off x="6755587" y="3902659"/>
            <a:ext cx="351130" cy="351130"/>
          </a:xfrm>
          <a:prstGeom prst="rect">
            <a:avLst/>
          </a:prstGeom>
        </p:spPr>
      </p:pic>
      <p:sp>
        <p:nvSpPr>
          <p:cNvPr id="25" name="Text 19"/>
          <p:cNvSpPr/>
          <p:nvPr/>
        </p:nvSpPr>
        <p:spPr>
          <a:xfrm>
            <a:off x="6492240" y="3410712"/>
            <a:ext cx="822960" cy="274320"/>
          </a:xfrm>
          <a:prstGeom prst="rect">
            <a:avLst/>
          </a:prstGeom>
          <a:noFill/>
          <a:ln/>
        </p:spPr>
        <p:txBody>
          <a:bodyPr wrap="square" rtlCol="0" anchor="ctr"/>
          <a:lstStyle/>
          <a:p>
            <a:pPr marL="0" indent="0">
              <a:buNone/>
            </a:pPr>
            <a:r>
              <a:rPr lang="en-US" sz="1100" b="1" dirty="0">
                <a:solidFill>
                  <a:srgbClr val="C9A227"/>
                </a:solidFill>
                <a:latin typeface="Calibri" pitchFamily="34" charset="0"/>
                <a:ea typeface="Calibri" pitchFamily="34" charset="-122"/>
                <a:cs typeface="Calibri" pitchFamily="34" charset="-120"/>
              </a:rPr>
              <a:t>04</a:t>
            </a:r>
            <a:endParaRPr lang="en-US" sz="1100" dirty="0"/>
          </a:p>
        </p:txBody>
      </p:sp>
      <p:sp>
        <p:nvSpPr>
          <p:cNvPr id="26" name="Text 20"/>
          <p:cNvSpPr/>
          <p:nvPr/>
        </p:nvSpPr>
        <p:spPr>
          <a:xfrm>
            <a:off x="7452360" y="3538728"/>
            <a:ext cx="4069080" cy="45720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Challenges</a:t>
            </a:r>
            <a:endParaRPr lang="en-US" sz="1600" dirty="0"/>
          </a:p>
        </p:txBody>
      </p:sp>
      <p:sp>
        <p:nvSpPr>
          <p:cNvPr id="27" name="Text 21"/>
          <p:cNvSpPr/>
          <p:nvPr/>
        </p:nvSpPr>
        <p:spPr>
          <a:xfrm>
            <a:off x="7452360" y="4023360"/>
            <a:ext cx="4069080" cy="640080"/>
          </a:xfrm>
          <a:prstGeom prst="rect">
            <a:avLst/>
          </a:prstGeom>
          <a:noFill/>
          <a:ln/>
        </p:spPr>
        <p:txBody>
          <a:bodyPr wrap="square" rtlCol="0" anchor="ctr"/>
          <a:lstStyle/>
          <a:p>
            <a:pPr marL="0" indent="0">
              <a:buNone/>
            </a:pPr>
            <a:r>
              <a:rPr lang="en-US" sz="1150" dirty="0">
                <a:solidFill>
                  <a:srgbClr val="5B6472"/>
                </a:solidFill>
                <a:latin typeface="Calibri" pitchFamily="34" charset="0"/>
                <a:ea typeface="Calibri" pitchFamily="34" charset="-122"/>
                <a:cs typeface="Calibri" pitchFamily="34" charset="-120"/>
              </a:rPr>
              <a:t>What could go wrong, and our plan for it</a:t>
            </a:r>
            <a:endParaRPr lang="en-US" sz="1150" dirty="0"/>
          </a:p>
        </p:txBody>
      </p:sp>
      <p:sp>
        <p:nvSpPr>
          <p:cNvPr id="28" name="Shape 22"/>
          <p:cNvSpPr/>
          <p:nvPr/>
        </p:nvSpPr>
        <p:spPr>
          <a:xfrm>
            <a:off x="548640" y="5074920"/>
            <a:ext cx="5440680" cy="1481328"/>
          </a:xfrm>
          <a:prstGeom prst="roundRect">
            <a:avLst>
              <a:gd name="adj" fmla="val 4938"/>
            </a:avLst>
          </a:prstGeom>
          <a:solidFill>
            <a:srgbClr val="EEF3FC"/>
          </a:solidFill>
          <a:ln/>
          <a:effectLst>
            <a:outerShdw blurRad="76200" dist="25400" dir="5400000" algn="bl" rotWithShape="0">
              <a:srgbClr val="9AA5B1">
                <a:alpha val="25000"/>
              </a:srgbClr>
            </a:outerShdw>
          </a:effectLst>
        </p:spPr>
        <p:txBody>
          <a:bodyPr/>
          <a:lstStyle/>
          <a:p>
            <a:endParaRPr lang="en-US"/>
          </a:p>
        </p:txBody>
      </p:sp>
      <p:sp>
        <p:nvSpPr>
          <p:cNvPr id="29" name="Shape 23"/>
          <p:cNvSpPr/>
          <p:nvPr/>
        </p:nvSpPr>
        <p:spPr>
          <a:xfrm>
            <a:off x="804672" y="5449824"/>
            <a:ext cx="731520" cy="731520"/>
          </a:xfrm>
          <a:prstGeom prst="ellipse">
            <a:avLst/>
          </a:prstGeom>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30" name="Image 4" descr="/home/claude/pptx/icons/cogs.png"/>
          <p:cNvPicPr>
            <a:picLocks noChangeAspect="1"/>
          </p:cNvPicPr>
          <p:nvPr/>
        </p:nvPicPr>
        <p:blipFill>
          <a:blip r:embed="rId8">
            <a:lum bright="70000" contrast="-70000"/>
          </a:blip>
          <a:stretch>
            <a:fillRect/>
          </a:stretch>
        </p:blipFill>
        <p:spPr>
          <a:xfrm>
            <a:off x="994867" y="5640019"/>
            <a:ext cx="351130" cy="351130"/>
          </a:xfrm>
          <a:prstGeom prst="rect">
            <a:avLst/>
          </a:prstGeom>
        </p:spPr>
      </p:pic>
      <p:sp>
        <p:nvSpPr>
          <p:cNvPr id="31" name="Text 24"/>
          <p:cNvSpPr/>
          <p:nvPr/>
        </p:nvSpPr>
        <p:spPr>
          <a:xfrm>
            <a:off x="731520" y="5148072"/>
            <a:ext cx="822960" cy="274320"/>
          </a:xfrm>
          <a:prstGeom prst="rect">
            <a:avLst/>
          </a:prstGeom>
          <a:noFill/>
          <a:ln/>
        </p:spPr>
        <p:txBody>
          <a:bodyPr wrap="square" rtlCol="0" anchor="ctr"/>
          <a:lstStyle/>
          <a:p>
            <a:pPr marL="0" indent="0">
              <a:buNone/>
            </a:pPr>
            <a:r>
              <a:rPr lang="en-US" sz="1100" b="1" dirty="0">
                <a:solidFill>
                  <a:srgbClr val="C9A227"/>
                </a:solidFill>
                <a:latin typeface="Calibri" pitchFamily="34" charset="0"/>
                <a:ea typeface="Calibri" pitchFamily="34" charset="-122"/>
                <a:cs typeface="Calibri" pitchFamily="34" charset="-120"/>
              </a:rPr>
              <a:t>05</a:t>
            </a:r>
            <a:endParaRPr lang="en-US" sz="1100" dirty="0"/>
          </a:p>
        </p:txBody>
      </p:sp>
      <p:sp>
        <p:nvSpPr>
          <p:cNvPr id="32" name="Text 25"/>
          <p:cNvSpPr/>
          <p:nvPr/>
        </p:nvSpPr>
        <p:spPr>
          <a:xfrm>
            <a:off x="1691640" y="5276088"/>
            <a:ext cx="4069080" cy="45720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Our ML Approach</a:t>
            </a:r>
            <a:endParaRPr lang="en-US" sz="1600" dirty="0"/>
          </a:p>
        </p:txBody>
      </p:sp>
      <p:sp>
        <p:nvSpPr>
          <p:cNvPr id="33" name="Text 26"/>
          <p:cNvSpPr/>
          <p:nvPr/>
        </p:nvSpPr>
        <p:spPr>
          <a:xfrm>
            <a:off x="1691640" y="5760720"/>
            <a:ext cx="4069080" cy="640080"/>
          </a:xfrm>
          <a:prstGeom prst="rect">
            <a:avLst/>
          </a:prstGeom>
          <a:noFill/>
          <a:ln/>
        </p:spPr>
        <p:txBody>
          <a:bodyPr wrap="square" rtlCol="0" anchor="ctr"/>
          <a:lstStyle/>
          <a:p>
            <a:pPr marL="0" indent="0">
              <a:buNone/>
            </a:pPr>
            <a:r>
              <a:rPr lang="en-US" sz="1150" dirty="0">
                <a:solidFill>
                  <a:srgbClr val="5B6472"/>
                </a:solidFill>
                <a:latin typeface="Calibri" pitchFamily="34" charset="0"/>
                <a:ea typeface="Calibri" pitchFamily="34" charset="-122"/>
                <a:cs typeface="Calibri" pitchFamily="34" charset="-120"/>
              </a:rPr>
              <a:t>The steps we plan to follow</a:t>
            </a:r>
            <a:endParaRPr lang="en-US" sz="1150" dirty="0"/>
          </a:p>
        </p:txBody>
      </p:sp>
      <p:sp>
        <p:nvSpPr>
          <p:cNvPr id="34" name="Shape 27"/>
          <p:cNvSpPr/>
          <p:nvPr/>
        </p:nvSpPr>
        <p:spPr>
          <a:xfrm>
            <a:off x="6309360" y="5074920"/>
            <a:ext cx="5440680" cy="1481328"/>
          </a:xfrm>
          <a:prstGeom prst="roundRect">
            <a:avLst>
              <a:gd name="adj" fmla="val 4938"/>
            </a:avLst>
          </a:prstGeom>
          <a:solidFill>
            <a:srgbClr val="EEF3FC"/>
          </a:solidFill>
          <a:ln/>
          <a:effectLst>
            <a:outerShdw blurRad="76200" dist="25400" dir="5400000" algn="bl" rotWithShape="0">
              <a:srgbClr val="9AA5B1">
                <a:alpha val="25000"/>
              </a:srgbClr>
            </a:outerShdw>
          </a:effectLst>
        </p:spPr>
        <p:txBody>
          <a:bodyPr/>
          <a:lstStyle/>
          <a:p>
            <a:endParaRPr lang="en-US"/>
          </a:p>
        </p:txBody>
      </p:sp>
      <p:sp>
        <p:nvSpPr>
          <p:cNvPr id="35" name="Shape 28"/>
          <p:cNvSpPr/>
          <p:nvPr/>
        </p:nvSpPr>
        <p:spPr>
          <a:xfrm>
            <a:off x="6565392" y="5449824"/>
            <a:ext cx="731520" cy="731520"/>
          </a:xfrm>
          <a:prstGeom prst="ellipse">
            <a:avLst/>
          </a:prstGeom>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36" name="Image 5" descr="/home/claude/pptx/icons/robot.png"/>
          <p:cNvPicPr>
            <a:picLocks noChangeAspect="1"/>
          </p:cNvPicPr>
          <p:nvPr/>
        </p:nvPicPr>
        <p:blipFill>
          <a:blip r:embed="rId9">
            <a:lum bright="70000" contrast="-70000"/>
          </a:blip>
          <a:stretch>
            <a:fillRect/>
          </a:stretch>
        </p:blipFill>
        <p:spPr>
          <a:xfrm>
            <a:off x="6755587" y="5640019"/>
            <a:ext cx="351130" cy="351130"/>
          </a:xfrm>
          <a:prstGeom prst="rect">
            <a:avLst/>
          </a:prstGeom>
        </p:spPr>
      </p:pic>
      <p:sp>
        <p:nvSpPr>
          <p:cNvPr id="37" name="Text 29"/>
          <p:cNvSpPr/>
          <p:nvPr/>
        </p:nvSpPr>
        <p:spPr>
          <a:xfrm>
            <a:off x="6492240" y="5148072"/>
            <a:ext cx="822960" cy="274320"/>
          </a:xfrm>
          <a:prstGeom prst="rect">
            <a:avLst/>
          </a:prstGeom>
          <a:noFill/>
          <a:ln/>
        </p:spPr>
        <p:txBody>
          <a:bodyPr wrap="square" rtlCol="0" anchor="ctr"/>
          <a:lstStyle/>
          <a:p>
            <a:pPr marL="0" indent="0">
              <a:buNone/>
            </a:pPr>
            <a:r>
              <a:rPr lang="en-US" sz="1100" b="1" dirty="0">
                <a:solidFill>
                  <a:srgbClr val="C9A227"/>
                </a:solidFill>
                <a:latin typeface="Calibri" pitchFamily="34" charset="0"/>
                <a:ea typeface="Calibri" pitchFamily="34" charset="-122"/>
                <a:cs typeface="Calibri" pitchFamily="34" charset="-120"/>
              </a:rPr>
              <a:t>06</a:t>
            </a:r>
            <a:endParaRPr lang="en-US" sz="1100" dirty="0"/>
          </a:p>
        </p:txBody>
      </p:sp>
      <p:sp>
        <p:nvSpPr>
          <p:cNvPr id="38" name="Text 30"/>
          <p:cNvSpPr/>
          <p:nvPr/>
        </p:nvSpPr>
        <p:spPr>
          <a:xfrm>
            <a:off x="7452360" y="5276088"/>
            <a:ext cx="4069080" cy="45720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Planned AI Tool Usage</a:t>
            </a:r>
            <a:endParaRPr lang="en-US" sz="1600" dirty="0"/>
          </a:p>
        </p:txBody>
      </p:sp>
      <p:sp>
        <p:nvSpPr>
          <p:cNvPr id="39" name="Text 31"/>
          <p:cNvSpPr/>
          <p:nvPr/>
        </p:nvSpPr>
        <p:spPr>
          <a:xfrm>
            <a:off x="7452360" y="5760720"/>
            <a:ext cx="4069080" cy="640080"/>
          </a:xfrm>
          <a:prstGeom prst="rect">
            <a:avLst/>
          </a:prstGeom>
          <a:noFill/>
          <a:ln/>
        </p:spPr>
        <p:txBody>
          <a:bodyPr wrap="square" rtlCol="0" anchor="ctr"/>
          <a:lstStyle/>
          <a:p>
            <a:pPr marL="0" indent="0">
              <a:buNone/>
            </a:pPr>
            <a:r>
              <a:rPr lang="en-US" sz="1150" dirty="0">
                <a:solidFill>
                  <a:srgbClr val="5B6472"/>
                </a:solidFill>
                <a:latin typeface="Calibri" pitchFamily="34" charset="0"/>
                <a:ea typeface="Calibri" pitchFamily="34" charset="-122"/>
                <a:cs typeface="Calibri" pitchFamily="34" charset="-120"/>
              </a:rPr>
              <a:t>How we plan to use AI tools honestly</a:t>
            </a:r>
            <a:endParaRPr lang="en-US" sz="1150" dirty="0"/>
          </a:p>
        </p:txBody>
      </p:sp>
      <p:sp>
        <p:nvSpPr>
          <p:cNvPr id="40" name="Text 32"/>
          <p:cNvSpPr/>
          <p:nvPr/>
        </p:nvSpPr>
        <p:spPr>
          <a:xfrm>
            <a:off x="11503152" y="6473952"/>
            <a:ext cx="365760" cy="274320"/>
          </a:xfrm>
          <a:prstGeom prst="rect">
            <a:avLst/>
          </a:prstGeom>
          <a:noFill/>
          <a:ln/>
        </p:spPr>
        <p:txBody>
          <a:bodyPr wrap="square" rtlCol="0" anchor="ctr"/>
          <a:lstStyle/>
          <a:p>
            <a:pPr marL="0" indent="0" algn="r">
              <a:buNone/>
            </a:pPr>
            <a:r>
              <a:rPr lang="en-US" sz="900" dirty="0">
                <a:solidFill>
                  <a:srgbClr val="5B6472"/>
                </a:solidFill>
              </a:rPr>
              <a:t>2</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Shape 1"/>
          <p:cNvSpPr/>
          <p:nvPr/>
        </p:nvSpPr>
        <p:spPr>
          <a:xfrm>
            <a:off x="1554480" y="914400"/>
            <a:ext cx="1188720" cy="1188720"/>
          </a:xfrm>
          <a:prstGeom prst="ellipse">
            <a:avLst/>
          </a:prstGeom>
          <a:ln/>
        </p:spPr>
        <p:style>
          <a:lnRef idx="1">
            <a:schemeClr val="accent5"/>
          </a:lnRef>
          <a:fillRef idx="3">
            <a:schemeClr val="accent5"/>
          </a:fillRef>
          <a:effectRef idx="2">
            <a:schemeClr val="accent5"/>
          </a:effectRef>
          <a:fontRef idx="minor">
            <a:schemeClr val="lt1"/>
          </a:fontRef>
        </p:style>
        <p:txBody>
          <a:bodyPr/>
          <a:lstStyle/>
          <a:p>
            <a:endParaRPr lang="en-US"/>
          </a:p>
        </p:txBody>
      </p:sp>
      <p:pic>
        <p:nvPicPr>
          <p:cNvPr id="4" name="Image 0" descr="/home/claude/pptx/icons/building.png"/>
          <p:cNvPicPr>
            <a:picLocks noChangeAspect="1"/>
          </p:cNvPicPr>
          <p:nvPr/>
        </p:nvPicPr>
        <p:blipFill>
          <a:blip r:embed="rId3">
            <a:lum bright="70000" contrast="-70000"/>
          </a:blip>
          <a:stretch>
            <a:fillRect/>
          </a:stretch>
        </p:blipFill>
        <p:spPr>
          <a:xfrm>
            <a:off x="1863547" y="1223467"/>
            <a:ext cx="570586" cy="570586"/>
          </a:xfrm>
          <a:prstGeom prst="rect">
            <a:avLst/>
          </a:prstGeom>
        </p:spPr>
      </p:pic>
      <p:sp>
        <p:nvSpPr>
          <p:cNvPr id="5" name="Text 2"/>
          <p:cNvSpPr/>
          <p:nvPr/>
        </p:nvSpPr>
        <p:spPr>
          <a:xfrm>
            <a:off x="457200" y="2331720"/>
            <a:ext cx="3291840" cy="73152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Problem Domain</a:t>
            </a:r>
            <a:endParaRPr lang="en-US" sz="2400" dirty="0"/>
          </a:p>
        </p:txBody>
      </p:sp>
      <p:sp>
        <p:nvSpPr>
          <p:cNvPr id="6" name="Text 3"/>
          <p:cNvSpPr/>
          <p:nvPr/>
        </p:nvSpPr>
        <p:spPr>
          <a:xfrm>
            <a:off x="457200" y="2971800"/>
            <a:ext cx="3383280" cy="822960"/>
          </a:xfrm>
          <a:prstGeom prst="rect">
            <a:avLst/>
          </a:prstGeom>
          <a:noFill/>
          <a:ln/>
        </p:spPr>
        <p:txBody>
          <a:bodyPr wrap="square" rtlCol="0" anchor="ctr"/>
          <a:lstStyle/>
          <a:p>
            <a:pPr marL="0" indent="0">
              <a:buNone/>
            </a:pPr>
            <a:r>
              <a:rPr lang="en-US" sz="1500" i="1" dirty="0">
                <a:solidFill>
                  <a:srgbClr val="CADCFC"/>
                </a:solidFill>
                <a:latin typeface="Calibri" pitchFamily="34" charset="0"/>
                <a:ea typeface="Calibri" pitchFamily="34" charset="-122"/>
                <a:cs typeface="Calibri" pitchFamily="34" charset="-120"/>
              </a:rPr>
              <a:t>Finance — Company Credit Risk</a:t>
            </a:r>
            <a:endParaRPr lang="en-US" sz="1500" dirty="0"/>
          </a:p>
        </p:txBody>
      </p:sp>
      <p:sp>
        <p:nvSpPr>
          <p:cNvPr id="7" name="Text 4"/>
          <p:cNvSpPr/>
          <p:nvPr/>
        </p:nvSpPr>
        <p:spPr>
          <a:xfrm>
            <a:off x="457200" y="3977640"/>
            <a:ext cx="3383280" cy="1463040"/>
          </a:xfrm>
          <a:prstGeom prst="rect">
            <a:avLst/>
          </a:prstGeom>
          <a:noFill/>
          <a:ln/>
        </p:spPr>
        <p:txBody>
          <a:bodyPr wrap="square" rtlCol="0" anchor="ctr"/>
          <a:lstStyle/>
          <a:p>
            <a:pPr marL="0" indent="0">
              <a:lnSpc>
                <a:spcPts val="1800"/>
              </a:lnSpc>
              <a:buNone/>
            </a:pPr>
            <a:r>
              <a:rPr lang="en-US" sz="1300" i="1" dirty="0">
                <a:solidFill>
                  <a:srgbClr val="EEF3FC"/>
                </a:solidFill>
                <a:latin typeface="Calibri" pitchFamily="34" charset="0"/>
                <a:ea typeface="Calibri" pitchFamily="34" charset="-122"/>
                <a:cs typeface="Calibri" pitchFamily="34" charset="-120"/>
              </a:rPr>
              <a:t>“Can a company’s financial numbers warn us about bankruptcy before it happens?”</a:t>
            </a:r>
            <a:endParaRPr lang="en-US" sz="1300" dirty="0"/>
          </a:p>
        </p:txBody>
      </p:sp>
      <p:sp>
        <p:nvSpPr>
          <p:cNvPr id="8" name="Text 5"/>
          <p:cNvSpPr/>
          <p:nvPr/>
        </p:nvSpPr>
        <p:spPr>
          <a:xfrm>
            <a:off x="4617720" y="502920"/>
            <a:ext cx="6949440" cy="457200"/>
          </a:xfrm>
          <a:prstGeom prst="rect">
            <a:avLst/>
          </a:prstGeom>
          <a:noFill/>
          <a:ln/>
        </p:spPr>
        <p:txBody>
          <a:bodyPr wrap="square" rtlCol="0" anchor="ctr"/>
          <a:lstStyle/>
          <a:p>
            <a:pPr marL="0" indent="0">
              <a:buNone/>
            </a:pPr>
            <a:r>
              <a:rPr lang="en-US" sz="2000" b="1" dirty="0">
                <a:solidFill>
                  <a:srgbClr val="1E2761"/>
                </a:solidFill>
                <a:latin typeface="Calibri" pitchFamily="34" charset="0"/>
                <a:ea typeface="Calibri" pitchFamily="34" charset="-122"/>
                <a:cs typeface="Calibri" pitchFamily="34" charset="-120"/>
              </a:rPr>
              <a:t>Why this matters</a:t>
            </a:r>
            <a:endParaRPr lang="en-US" sz="2000" dirty="0"/>
          </a:p>
        </p:txBody>
      </p:sp>
      <p:sp>
        <p:nvSpPr>
          <p:cNvPr id="9" name="Shape 6"/>
          <p:cNvSpPr/>
          <p:nvPr/>
        </p:nvSpPr>
        <p:spPr>
          <a:xfrm>
            <a:off x="4617720" y="1197864"/>
            <a:ext cx="128016" cy="128016"/>
          </a:xfrm>
          <a:prstGeom prst="ellipse">
            <a:avLst/>
          </a:prstGeom>
          <a:solidFill>
            <a:srgbClr val="C9A227"/>
          </a:solidFill>
          <a:ln/>
        </p:spPr>
        <p:txBody>
          <a:bodyPr/>
          <a:lstStyle/>
          <a:p>
            <a:endParaRPr lang="en-US"/>
          </a:p>
        </p:txBody>
      </p:sp>
      <p:sp>
        <p:nvSpPr>
          <p:cNvPr id="10" name="Text 7"/>
          <p:cNvSpPr/>
          <p:nvPr/>
        </p:nvSpPr>
        <p:spPr>
          <a:xfrm>
            <a:off x="4892040" y="1005840"/>
            <a:ext cx="6675120" cy="914400"/>
          </a:xfrm>
          <a:prstGeom prst="rect">
            <a:avLst/>
          </a:prstGeom>
          <a:noFill/>
          <a:ln/>
        </p:spPr>
        <p:txBody>
          <a:bodyPr wrap="square" rtlCol="0" anchor="ctr"/>
          <a:lstStyle/>
          <a:p>
            <a:pPr marL="0" indent="0">
              <a:lnSpc>
                <a:spcPts val="1900"/>
              </a:lnSpc>
              <a:buNone/>
            </a:pPr>
            <a:r>
              <a:rPr lang="en-US" sz="1350" dirty="0">
                <a:solidFill>
                  <a:srgbClr val="1A1A2E"/>
                </a:solidFill>
                <a:latin typeface="Calibri" pitchFamily="34" charset="0"/>
                <a:ea typeface="Calibri" pitchFamily="34" charset="-122"/>
                <a:cs typeface="Calibri" pitchFamily="34" charset="-120"/>
              </a:rPr>
              <a:t>Today, many analysts check a few ratios by hand (like the Altman Z-score). This is slow to update and can miss complex patterns.</a:t>
            </a:r>
            <a:endParaRPr lang="en-US" sz="1350" dirty="0"/>
          </a:p>
        </p:txBody>
      </p:sp>
      <p:sp>
        <p:nvSpPr>
          <p:cNvPr id="11" name="Shape 8"/>
          <p:cNvSpPr/>
          <p:nvPr/>
        </p:nvSpPr>
        <p:spPr>
          <a:xfrm>
            <a:off x="4617720" y="2386584"/>
            <a:ext cx="128016" cy="128016"/>
          </a:xfrm>
          <a:prstGeom prst="ellipse">
            <a:avLst/>
          </a:prstGeom>
          <a:solidFill>
            <a:srgbClr val="C9A227"/>
          </a:solidFill>
          <a:ln/>
        </p:spPr>
        <p:txBody>
          <a:bodyPr/>
          <a:lstStyle/>
          <a:p>
            <a:endParaRPr lang="en-US"/>
          </a:p>
        </p:txBody>
      </p:sp>
      <p:sp>
        <p:nvSpPr>
          <p:cNvPr id="12" name="Text 9"/>
          <p:cNvSpPr/>
          <p:nvPr/>
        </p:nvSpPr>
        <p:spPr>
          <a:xfrm>
            <a:off x="4892040" y="2194560"/>
            <a:ext cx="6675120" cy="914400"/>
          </a:xfrm>
          <a:prstGeom prst="rect">
            <a:avLst/>
          </a:prstGeom>
          <a:noFill/>
          <a:ln/>
        </p:spPr>
        <p:txBody>
          <a:bodyPr wrap="square" rtlCol="0" anchor="ctr"/>
          <a:lstStyle/>
          <a:p>
            <a:pPr marL="0" indent="0">
              <a:lnSpc>
                <a:spcPts val="1900"/>
              </a:lnSpc>
              <a:buNone/>
            </a:pPr>
            <a:r>
              <a:rPr lang="en-US" sz="1350" dirty="0">
                <a:solidFill>
                  <a:srgbClr val="1A1A2E"/>
                </a:solidFill>
                <a:latin typeface="Calibri" pitchFamily="34" charset="0"/>
                <a:ea typeface="Calibri" pitchFamily="34" charset="-122"/>
                <a:cs typeface="Calibri" pitchFamily="34" charset="-120"/>
              </a:rPr>
              <a:t>Bankruptcies are rare. In a big list of companies, the early warning signs are easy to miss.</a:t>
            </a:r>
            <a:endParaRPr lang="en-US" sz="1350" dirty="0"/>
          </a:p>
        </p:txBody>
      </p:sp>
      <p:sp>
        <p:nvSpPr>
          <p:cNvPr id="13" name="Shape 10"/>
          <p:cNvSpPr/>
          <p:nvPr/>
        </p:nvSpPr>
        <p:spPr>
          <a:xfrm>
            <a:off x="4617720" y="3575304"/>
            <a:ext cx="128016" cy="128016"/>
          </a:xfrm>
          <a:prstGeom prst="ellipse">
            <a:avLst/>
          </a:prstGeom>
          <a:solidFill>
            <a:srgbClr val="C9A227"/>
          </a:solidFill>
          <a:ln/>
        </p:spPr>
        <p:txBody>
          <a:bodyPr/>
          <a:lstStyle/>
          <a:p>
            <a:endParaRPr lang="en-US"/>
          </a:p>
        </p:txBody>
      </p:sp>
      <p:sp>
        <p:nvSpPr>
          <p:cNvPr id="14" name="Text 11"/>
          <p:cNvSpPr/>
          <p:nvPr/>
        </p:nvSpPr>
        <p:spPr>
          <a:xfrm>
            <a:off x="4892040" y="3383280"/>
            <a:ext cx="6675120" cy="914400"/>
          </a:xfrm>
          <a:prstGeom prst="rect">
            <a:avLst/>
          </a:prstGeom>
          <a:noFill/>
          <a:ln/>
        </p:spPr>
        <p:txBody>
          <a:bodyPr wrap="square" rtlCol="0" anchor="ctr"/>
          <a:lstStyle/>
          <a:p>
            <a:pPr marL="0" indent="0">
              <a:lnSpc>
                <a:spcPts val="1900"/>
              </a:lnSpc>
              <a:buNone/>
            </a:pPr>
            <a:r>
              <a:rPr lang="en-US" sz="1350" dirty="0">
                <a:solidFill>
                  <a:srgbClr val="1A1A2E"/>
                </a:solidFill>
                <a:latin typeface="Calibri" pitchFamily="34" charset="0"/>
                <a:ea typeface="Calibri" pitchFamily="34" charset="-122"/>
                <a:cs typeface="Calibri" pitchFamily="34" charset="-120"/>
              </a:rPr>
              <a:t>A good prediction model can help banks decide who to lend to, help regulators spot risk early, and help companies check their own health.</a:t>
            </a:r>
            <a:endParaRPr lang="en-US" sz="1350" dirty="0"/>
          </a:p>
        </p:txBody>
      </p:sp>
      <p:sp>
        <p:nvSpPr>
          <p:cNvPr id="15" name="Shape 12"/>
          <p:cNvSpPr/>
          <p:nvPr/>
        </p:nvSpPr>
        <p:spPr>
          <a:xfrm>
            <a:off x="4617720" y="4892040"/>
            <a:ext cx="6675120" cy="1463040"/>
          </a:xfrm>
          <a:prstGeom prst="roundRect">
            <a:avLst>
              <a:gd name="adj" fmla="val 5926"/>
            </a:avLst>
          </a:prstGeom>
          <a:solidFill>
            <a:srgbClr val="EEF3FC"/>
          </a:solidFill>
          <a:ln/>
        </p:spPr>
        <p:txBody>
          <a:bodyPr/>
          <a:lstStyle/>
          <a:p>
            <a:endParaRPr lang="en-US"/>
          </a:p>
        </p:txBody>
      </p:sp>
      <p:sp>
        <p:nvSpPr>
          <p:cNvPr id="16" name="Text 13"/>
          <p:cNvSpPr/>
          <p:nvPr/>
        </p:nvSpPr>
        <p:spPr>
          <a:xfrm>
            <a:off x="4846320" y="5074920"/>
            <a:ext cx="6217920" cy="1280160"/>
          </a:xfrm>
          <a:prstGeom prst="rect">
            <a:avLst/>
          </a:prstGeom>
          <a:noFill/>
          <a:ln/>
        </p:spPr>
        <p:txBody>
          <a:bodyPr wrap="square" rtlCol="0" anchor="ctr"/>
          <a:lstStyle/>
          <a:p>
            <a:pPr marL="0" indent="0">
              <a:lnSpc>
                <a:spcPts val="1900"/>
              </a:lnSpc>
              <a:buNone/>
            </a:pPr>
            <a:r>
              <a:rPr lang="en-US" sz="1350" b="1" dirty="0">
                <a:solidFill>
                  <a:srgbClr val="1E2761"/>
                </a:solidFill>
                <a:latin typeface="Calibri" pitchFamily="34" charset="0"/>
                <a:ea typeface="Calibri" pitchFamily="34" charset="-122"/>
                <a:cs typeface="Calibri" pitchFamily="34" charset="-120"/>
              </a:rPr>
              <a:t>Our task:  </a:t>
            </a:r>
            <a:r>
              <a:rPr lang="en-US" sz="1350" dirty="0">
                <a:solidFill>
                  <a:srgbClr val="1A1A2E"/>
                </a:solidFill>
                <a:latin typeface="Calibri" pitchFamily="34" charset="0"/>
                <a:ea typeface="Calibri" pitchFamily="34" charset="-122"/>
                <a:cs typeface="Calibri" pitchFamily="34" charset="-120"/>
              </a:rPr>
              <a:t>Look at the 95 financial ratios of a company and predict: Bankrupt (1) or Not Bankrupt (0).</a:t>
            </a:r>
            <a:endParaRPr lang="en-US" sz="1350" dirty="0"/>
          </a:p>
          <a:p>
            <a:pPr marL="0" indent="0">
              <a:lnSpc>
                <a:spcPts val="1900"/>
              </a:lnSpc>
              <a:spcBef>
                <a:spcPts val="500"/>
              </a:spcBef>
              <a:buNone/>
            </a:pPr>
            <a:r>
              <a:rPr lang="en-US" sz="1250" b="1" dirty="0">
                <a:solidFill>
                  <a:srgbClr val="1E2761"/>
                </a:solidFill>
                <a:latin typeface="Calibri" pitchFamily="34" charset="0"/>
                <a:ea typeface="Calibri" pitchFamily="34" charset="-122"/>
                <a:cs typeface="Calibri" pitchFamily="34" charset="-120"/>
              </a:rPr>
              <a:t>Key words:  </a:t>
            </a:r>
            <a:r>
              <a:rPr lang="en-US" sz="1250" dirty="0">
                <a:solidFill>
                  <a:srgbClr val="1A1A2E"/>
                </a:solidFill>
                <a:latin typeface="Calibri" pitchFamily="34" charset="0"/>
                <a:ea typeface="Calibri" pitchFamily="34" charset="-122"/>
                <a:cs typeface="Calibri" pitchFamily="34" charset="-120"/>
              </a:rPr>
              <a:t>Bankrupt = cannot pay its debts.  Financial ratio = one money figure divided by another (for example, profit ÷ total assets).</a:t>
            </a:r>
            <a:endParaRPr lang="en-US" sz="1350" dirty="0"/>
          </a:p>
        </p:txBody>
      </p:sp>
      <p:sp>
        <p:nvSpPr>
          <p:cNvPr id="17" name="Text 14"/>
          <p:cNvSpPr/>
          <p:nvPr/>
        </p:nvSpPr>
        <p:spPr>
          <a:xfrm>
            <a:off x="11503152" y="6473952"/>
            <a:ext cx="365760" cy="274320"/>
          </a:xfrm>
          <a:prstGeom prst="rect">
            <a:avLst/>
          </a:prstGeom>
          <a:noFill/>
          <a:ln/>
        </p:spPr>
        <p:txBody>
          <a:bodyPr wrap="square" rtlCol="0" anchor="ctr"/>
          <a:lstStyle/>
          <a:p>
            <a:pPr marL="0" indent="0" algn="r">
              <a:buNone/>
            </a:pPr>
            <a:r>
              <a:rPr lang="en-US" sz="900" dirty="0">
                <a:solidFill>
                  <a:srgbClr val="5B6472"/>
                </a:solidFill>
              </a:rPr>
              <a:t>3</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411480"/>
            <a:ext cx="8229600" cy="64008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Our Assigned Dataset</a:t>
            </a:r>
            <a:endParaRPr lang="en-US" sz="3200" dirty="0"/>
          </a:p>
        </p:txBody>
      </p:sp>
      <p:sp>
        <p:nvSpPr>
          <p:cNvPr id="3" name="Shape 1"/>
          <p:cNvSpPr/>
          <p:nvPr/>
        </p:nvSpPr>
        <p:spPr>
          <a:xfrm>
            <a:off x="10607040" y="411480"/>
            <a:ext cx="822960" cy="822960"/>
          </a:xfrm>
          <a:prstGeom prst="ellipse">
            <a:avLst/>
          </a:prstGeom>
          <a:ln/>
        </p:spPr>
        <p:style>
          <a:lnRef idx="1">
            <a:schemeClr val="accent5"/>
          </a:lnRef>
          <a:fillRef idx="3">
            <a:schemeClr val="accent5"/>
          </a:fillRef>
          <a:effectRef idx="2">
            <a:schemeClr val="accent5"/>
          </a:effectRef>
          <a:fontRef idx="minor">
            <a:schemeClr val="lt1"/>
          </a:fontRef>
        </p:style>
        <p:txBody>
          <a:bodyPr/>
          <a:lstStyle/>
          <a:p>
            <a:endParaRPr lang="en-US"/>
          </a:p>
        </p:txBody>
      </p:sp>
      <p:pic>
        <p:nvPicPr>
          <p:cNvPr id="4" name="Image 0" descr="/home/claude/pptx/icons/database.png"/>
          <p:cNvPicPr>
            <a:picLocks noChangeAspect="1"/>
          </p:cNvPicPr>
          <p:nvPr/>
        </p:nvPicPr>
        <p:blipFill>
          <a:blip r:embed="rId3">
            <a:lum bright="70000" contrast="-70000"/>
          </a:blip>
          <a:stretch>
            <a:fillRect/>
          </a:stretch>
        </p:blipFill>
        <p:spPr>
          <a:xfrm>
            <a:off x="10821010" y="625450"/>
            <a:ext cx="395021" cy="395021"/>
          </a:xfrm>
          <a:prstGeom prst="rect">
            <a:avLst/>
          </a:prstGeom>
        </p:spPr>
      </p:pic>
      <p:sp>
        <p:nvSpPr>
          <p:cNvPr id="5" name="Shape 2"/>
          <p:cNvSpPr/>
          <p:nvPr/>
        </p:nvSpPr>
        <p:spPr>
          <a:xfrm>
            <a:off x="548640" y="1371600"/>
            <a:ext cx="11064240" cy="1371600"/>
          </a:xfrm>
          <a:prstGeom prst="roundRect">
            <a:avLst>
              <a:gd name="adj" fmla="val 5333"/>
            </a:avLst>
          </a:prstGeom>
          <a:solidFill>
            <a:srgbClr val="EEF3FC"/>
          </a:solidFill>
          <a:ln/>
        </p:spPr>
        <p:txBody>
          <a:bodyPr/>
          <a:lstStyle/>
          <a:p>
            <a:endParaRPr lang="en-US"/>
          </a:p>
        </p:txBody>
      </p:sp>
      <p:sp>
        <p:nvSpPr>
          <p:cNvPr id="6" name="Text 3"/>
          <p:cNvSpPr/>
          <p:nvPr/>
        </p:nvSpPr>
        <p:spPr>
          <a:xfrm>
            <a:off x="822960" y="1536192"/>
            <a:ext cx="6858000" cy="1051560"/>
          </a:xfrm>
          <a:prstGeom prst="rect">
            <a:avLst/>
          </a:prstGeom>
          <a:noFill/>
          <a:ln/>
        </p:spPr>
        <p:txBody>
          <a:bodyPr wrap="square" rtlCol="0" anchor="ctr"/>
          <a:lstStyle/>
          <a:p>
            <a:pPr marL="0" indent="0">
              <a:lnSpc>
                <a:spcPct val="115000"/>
              </a:lnSpc>
              <a:buNone/>
            </a:pPr>
            <a:r>
              <a:rPr lang="en-US" sz="1700" b="1" dirty="0">
                <a:solidFill>
                  <a:srgbClr val="1E2761"/>
                </a:solidFill>
                <a:latin typeface="Calibri" pitchFamily="34" charset="0"/>
                <a:ea typeface="Calibri" pitchFamily="34" charset="-122"/>
                <a:cs typeface="Calibri" pitchFamily="34" charset="-120"/>
              </a:rPr>
              <a:t>Taiwanese Bankruptcy Prediction Dataset</a:t>
            </a:r>
            <a:br>
              <a:rPr lang="en-US" sz="1700" b="1" dirty="0">
                <a:solidFill>
                  <a:srgbClr val="1E2761"/>
                </a:solidFill>
                <a:latin typeface="Calibri" pitchFamily="34" charset="0"/>
                <a:ea typeface="Calibri" pitchFamily="34" charset="-122"/>
                <a:cs typeface="Calibri" pitchFamily="34" charset="-120"/>
              </a:rPr>
            </a:br>
            <a:r>
              <a:rPr lang="en-US" sz="1300" dirty="0">
                <a:solidFill>
                  <a:srgbClr val="5B6472"/>
                </a:solidFill>
                <a:latin typeface="Calibri" pitchFamily="34" charset="0"/>
                <a:ea typeface="Calibri" pitchFamily="34" charset="-122"/>
                <a:cs typeface="Calibri" pitchFamily="34" charset="-120"/>
              </a:rPr>
              <a:t>UCI Machine Learning Repository</a:t>
            </a:r>
            <a:endParaRPr lang="en-US" sz="1700" dirty="0"/>
          </a:p>
        </p:txBody>
      </p:sp>
      <p:sp>
        <p:nvSpPr>
          <p:cNvPr id="7" name="Text 4">
            <a:hlinkClick r:id="rId4"/>
          </p:cNvPr>
          <p:cNvSpPr/>
          <p:nvPr/>
        </p:nvSpPr>
        <p:spPr>
          <a:xfrm>
            <a:off x="7680960" y="1536192"/>
            <a:ext cx="3749040" cy="1051560"/>
          </a:xfrm>
          <a:prstGeom prst="rect">
            <a:avLst/>
          </a:prstGeom>
          <a:noFill/>
          <a:ln/>
        </p:spPr>
        <p:txBody>
          <a:bodyPr wrap="square" rtlCol="0" anchor="ctr"/>
          <a:lstStyle/>
          <a:p>
            <a:pPr marL="0" indent="0" algn="l">
              <a:buNone/>
            </a:pPr>
            <a:r>
              <a:rPr lang="en-US" sz="1100" u="sng" dirty="0">
                <a:solidFill>
                  <a:srgbClr val="1E2761"/>
                </a:solidFill>
                <a:latin typeface="Calibri" pitchFamily="34" charset="0"/>
                <a:ea typeface="Calibri" pitchFamily="34" charset="-122"/>
                <a:cs typeface="Calibri" pitchFamily="34" charset="-120"/>
              </a:rPr>
              <a:t>archive.ics.uci.edu/dataset/572/taiwanese+bankruptcy+prediction</a:t>
            </a:r>
            <a:endParaRPr lang="en-US" sz="1100" dirty="0"/>
          </a:p>
        </p:txBody>
      </p:sp>
      <p:sp>
        <p:nvSpPr>
          <p:cNvPr id="8" name="Text 5"/>
          <p:cNvSpPr/>
          <p:nvPr/>
        </p:nvSpPr>
        <p:spPr>
          <a:xfrm>
            <a:off x="548640" y="2971800"/>
            <a:ext cx="3474720" cy="274320"/>
          </a:xfrm>
          <a:prstGeom prst="rect">
            <a:avLst/>
          </a:prstGeom>
          <a:noFill/>
          <a:ln/>
        </p:spPr>
        <p:txBody>
          <a:bodyPr wrap="square" rtlCol="0" anchor="ctr"/>
          <a:lstStyle/>
          <a:p>
            <a:pPr marL="0" indent="0">
              <a:buNone/>
            </a:pPr>
            <a:r>
              <a:rPr lang="en-US" sz="1100" b="1" dirty="0">
                <a:solidFill>
                  <a:srgbClr val="5B6472"/>
                </a:solidFill>
              </a:rPr>
              <a:t>Compiled by</a:t>
            </a:r>
            <a:endParaRPr lang="en-US" sz="1100" dirty="0"/>
          </a:p>
        </p:txBody>
      </p:sp>
      <p:sp>
        <p:nvSpPr>
          <p:cNvPr id="9" name="Text 6"/>
          <p:cNvSpPr/>
          <p:nvPr/>
        </p:nvSpPr>
        <p:spPr>
          <a:xfrm>
            <a:off x="548640" y="3246120"/>
            <a:ext cx="3474720" cy="822960"/>
          </a:xfrm>
          <a:prstGeom prst="rect">
            <a:avLst/>
          </a:prstGeom>
          <a:noFill/>
          <a:ln/>
        </p:spPr>
        <p:txBody>
          <a:bodyPr wrap="square" rtlCol="0" anchor="ctr"/>
          <a:lstStyle/>
          <a:p>
            <a:pPr marL="0" indent="0">
              <a:lnSpc>
                <a:spcPts val="1700"/>
              </a:lnSpc>
              <a:buNone/>
            </a:pPr>
            <a:r>
              <a:rPr lang="en-US" sz="1300" dirty="0">
                <a:solidFill>
                  <a:srgbClr val="1A1A2E"/>
                </a:solidFill>
                <a:latin typeface="Calibri" pitchFamily="34" charset="0"/>
                <a:ea typeface="Calibri" pitchFamily="34" charset="-122"/>
                <a:cs typeface="Calibri" pitchFamily="34" charset="-120"/>
              </a:rPr>
              <a:t>Deron Liang and Chih-Fong Tsai, National Central University, Taiwan</a:t>
            </a:r>
            <a:endParaRPr lang="en-US" sz="1300" dirty="0"/>
          </a:p>
        </p:txBody>
      </p:sp>
      <p:sp>
        <p:nvSpPr>
          <p:cNvPr id="10" name="Text 7"/>
          <p:cNvSpPr/>
          <p:nvPr/>
        </p:nvSpPr>
        <p:spPr>
          <a:xfrm>
            <a:off x="4297680" y="2971800"/>
            <a:ext cx="3474720" cy="274320"/>
          </a:xfrm>
          <a:prstGeom prst="rect">
            <a:avLst/>
          </a:prstGeom>
          <a:noFill/>
          <a:ln/>
        </p:spPr>
        <p:txBody>
          <a:bodyPr wrap="square" rtlCol="0" anchor="ctr"/>
          <a:lstStyle/>
          <a:p>
            <a:pPr marL="0" indent="0">
              <a:buNone/>
            </a:pPr>
            <a:r>
              <a:rPr lang="en-US" sz="1100" b="1" dirty="0">
                <a:solidFill>
                  <a:srgbClr val="5B6472"/>
                </a:solidFill>
              </a:rPr>
              <a:t>Data period</a:t>
            </a:r>
            <a:endParaRPr lang="en-US" sz="1100" dirty="0"/>
          </a:p>
        </p:txBody>
      </p:sp>
      <p:sp>
        <p:nvSpPr>
          <p:cNvPr id="11" name="Text 8"/>
          <p:cNvSpPr/>
          <p:nvPr/>
        </p:nvSpPr>
        <p:spPr>
          <a:xfrm>
            <a:off x="4297680" y="3246120"/>
            <a:ext cx="3474720" cy="822960"/>
          </a:xfrm>
          <a:prstGeom prst="rect">
            <a:avLst/>
          </a:prstGeom>
          <a:noFill/>
          <a:ln/>
        </p:spPr>
        <p:txBody>
          <a:bodyPr wrap="square" rtlCol="0" anchor="ctr"/>
          <a:lstStyle/>
          <a:p>
            <a:pPr marL="0" indent="0">
              <a:lnSpc>
                <a:spcPts val="1700"/>
              </a:lnSpc>
              <a:buNone/>
            </a:pPr>
            <a:r>
              <a:rPr lang="en-US" sz="1300" dirty="0">
                <a:solidFill>
                  <a:srgbClr val="1A1A2E"/>
                </a:solidFill>
                <a:latin typeface="Calibri" pitchFamily="34" charset="0"/>
                <a:ea typeface="Calibri" pitchFamily="34" charset="-122"/>
                <a:cs typeface="Calibri" pitchFamily="34" charset="-120"/>
              </a:rPr>
              <a:t>1999 – 2009. Companies come from the Taiwan Economic Journal. “Bankrupt” follows Taiwan Stock Exchange rules.</a:t>
            </a:r>
            <a:endParaRPr lang="en-US" sz="1300" dirty="0"/>
          </a:p>
        </p:txBody>
      </p:sp>
      <p:sp>
        <p:nvSpPr>
          <p:cNvPr id="12" name="Text 9"/>
          <p:cNvSpPr/>
          <p:nvPr/>
        </p:nvSpPr>
        <p:spPr>
          <a:xfrm>
            <a:off x="8046720" y="2971800"/>
            <a:ext cx="3566160" cy="274320"/>
          </a:xfrm>
          <a:prstGeom prst="rect">
            <a:avLst/>
          </a:prstGeom>
          <a:noFill/>
          <a:ln/>
        </p:spPr>
        <p:txBody>
          <a:bodyPr wrap="square" rtlCol="0" anchor="ctr"/>
          <a:lstStyle/>
          <a:p>
            <a:pPr marL="0" indent="0">
              <a:buNone/>
            </a:pPr>
            <a:r>
              <a:rPr lang="en-US" sz="1100" b="1" dirty="0">
                <a:solidFill>
                  <a:srgbClr val="5B6472"/>
                </a:solidFill>
              </a:rPr>
              <a:t>Research paper</a:t>
            </a:r>
            <a:endParaRPr lang="en-US" sz="1100" dirty="0"/>
          </a:p>
        </p:txBody>
      </p:sp>
      <p:sp>
        <p:nvSpPr>
          <p:cNvPr id="13" name="Text 10"/>
          <p:cNvSpPr/>
          <p:nvPr/>
        </p:nvSpPr>
        <p:spPr>
          <a:xfrm>
            <a:off x="8046720" y="3246120"/>
            <a:ext cx="3566160" cy="822960"/>
          </a:xfrm>
          <a:prstGeom prst="rect">
            <a:avLst/>
          </a:prstGeom>
          <a:noFill/>
          <a:ln/>
        </p:spPr>
        <p:txBody>
          <a:bodyPr wrap="square" rtlCol="0" anchor="ctr"/>
          <a:lstStyle/>
          <a:p>
            <a:pPr marL="0" indent="0">
              <a:lnSpc>
                <a:spcPts val="1700"/>
              </a:lnSpc>
              <a:buNone/>
            </a:pPr>
            <a:r>
              <a:rPr lang="en-US" sz="1300" dirty="0">
                <a:solidFill>
                  <a:srgbClr val="1A1A2E"/>
                </a:solidFill>
                <a:latin typeface="Calibri" pitchFamily="34" charset="0"/>
                <a:ea typeface="Calibri" pitchFamily="34" charset="-122"/>
                <a:cs typeface="Calibri" pitchFamily="34" charset="-120"/>
              </a:rPr>
              <a:t>Liang et al. (2016), European Journal of Operational Research, 252(2), 561–572.</a:t>
            </a:r>
            <a:endParaRPr lang="en-US" sz="1300" dirty="0"/>
          </a:p>
        </p:txBody>
      </p:sp>
      <p:sp>
        <p:nvSpPr>
          <p:cNvPr id="14" name="Shape 11"/>
          <p:cNvSpPr/>
          <p:nvPr/>
        </p:nvSpPr>
        <p:spPr>
          <a:xfrm>
            <a:off x="548640" y="4251960"/>
            <a:ext cx="11064240" cy="0"/>
          </a:xfrm>
          <a:prstGeom prst="line">
            <a:avLst/>
          </a:prstGeom>
          <a:noFill/>
          <a:ln w="15875">
            <a:solidFill>
              <a:srgbClr val="CADCFC"/>
            </a:solidFill>
            <a:prstDash val="solid"/>
          </a:ln>
        </p:spPr>
        <p:txBody>
          <a:bodyPr/>
          <a:lstStyle/>
          <a:p>
            <a:endParaRPr lang="en-US"/>
          </a:p>
        </p:txBody>
      </p:sp>
      <p:sp>
        <p:nvSpPr>
          <p:cNvPr id="15" name="Text 12"/>
          <p:cNvSpPr/>
          <p:nvPr/>
        </p:nvSpPr>
        <p:spPr>
          <a:xfrm>
            <a:off x="548640" y="4480560"/>
            <a:ext cx="11064240" cy="457200"/>
          </a:xfrm>
          <a:prstGeom prst="rect">
            <a:avLst/>
          </a:prstGeom>
          <a:noFill/>
          <a:ln/>
        </p:spPr>
        <p:txBody>
          <a:bodyPr wrap="square"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Format: one CSV file (data.csv).  Target column: “Bankrupt?” (1 = bankrupt, 0 = not bankrupt).  The module coordinators assigned this dataset to our group.</a:t>
            </a:r>
            <a:endParaRPr lang="en-US" sz="1250" dirty="0"/>
          </a:p>
        </p:txBody>
      </p:sp>
      <p:sp>
        <p:nvSpPr>
          <p:cNvPr id="16" name="Shape 13"/>
          <p:cNvSpPr/>
          <p:nvPr/>
        </p:nvSpPr>
        <p:spPr>
          <a:xfrm>
            <a:off x="548640" y="5120640"/>
            <a:ext cx="2606040" cy="1234440"/>
          </a:xfrm>
          <a:prstGeom prst="roundRect">
            <a:avLst>
              <a:gd name="adj" fmla="val 5926"/>
            </a:avLst>
          </a:prstGeom>
          <a:ln/>
        </p:spPr>
        <p:style>
          <a:lnRef idx="1">
            <a:schemeClr val="accent5"/>
          </a:lnRef>
          <a:fillRef idx="3">
            <a:schemeClr val="accent5"/>
          </a:fillRef>
          <a:effectRef idx="2">
            <a:schemeClr val="accent5"/>
          </a:effectRef>
          <a:fontRef idx="minor">
            <a:schemeClr val="lt1"/>
          </a:fontRef>
        </p:style>
        <p:txBody>
          <a:bodyPr/>
          <a:lstStyle/>
          <a:p>
            <a:endParaRPr lang="en-US"/>
          </a:p>
        </p:txBody>
      </p:sp>
      <p:sp>
        <p:nvSpPr>
          <p:cNvPr id="17" name="Text 14"/>
          <p:cNvSpPr/>
          <p:nvPr/>
        </p:nvSpPr>
        <p:spPr>
          <a:xfrm>
            <a:off x="548640" y="5248656"/>
            <a:ext cx="2606040" cy="640080"/>
          </a:xfrm>
          <a:prstGeom prst="rect">
            <a:avLst/>
          </a:prstGeom>
          <a:noFill/>
          <a:ln/>
        </p:spPr>
        <p:txBody>
          <a:bodyPr wrap="square" rtlCol="0" anchor="ctr"/>
          <a:lstStyle/>
          <a:p>
            <a:pPr marL="0" indent="0" algn="ctr">
              <a:buNone/>
            </a:pPr>
            <a:r>
              <a:rPr lang="en-US" sz="3000" b="1" dirty="0">
                <a:solidFill>
                  <a:srgbClr val="FFFF00"/>
                </a:solidFill>
                <a:latin typeface="Cambria" pitchFamily="34" charset="0"/>
                <a:ea typeface="Cambria" pitchFamily="34" charset="-122"/>
                <a:cs typeface="Cambria" pitchFamily="34" charset="-120"/>
              </a:rPr>
              <a:t>6,819</a:t>
            </a:r>
            <a:endParaRPr lang="en-US" sz="3000" dirty="0">
              <a:solidFill>
                <a:srgbClr val="FFFF00"/>
              </a:solidFill>
            </a:endParaRPr>
          </a:p>
        </p:txBody>
      </p:sp>
      <p:sp>
        <p:nvSpPr>
          <p:cNvPr id="18" name="Text 15"/>
          <p:cNvSpPr/>
          <p:nvPr/>
        </p:nvSpPr>
        <p:spPr>
          <a:xfrm>
            <a:off x="640080" y="5897880"/>
            <a:ext cx="2423160" cy="365760"/>
          </a:xfrm>
          <a:prstGeom prst="rect">
            <a:avLst/>
          </a:prstGeom>
          <a:noFill/>
          <a:ln/>
        </p:spPr>
        <p:txBody>
          <a:bodyPr wrap="square" rtlCol="0" anchor="ctr"/>
          <a:lstStyle/>
          <a:p>
            <a:pPr marL="0" indent="0" algn="ctr">
              <a:buNone/>
            </a:pPr>
            <a:r>
              <a:rPr lang="en-US" sz="1100" dirty="0">
                <a:solidFill>
                  <a:srgbClr val="EEF3FC"/>
                </a:solidFill>
                <a:latin typeface="Calibri" pitchFamily="34" charset="0"/>
                <a:ea typeface="Calibri" pitchFamily="34" charset="-122"/>
                <a:cs typeface="Calibri" pitchFamily="34" charset="-120"/>
              </a:rPr>
              <a:t>Companies (rows)</a:t>
            </a:r>
            <a:endParaRPr lang="en-US" sz="1100" dirty="0"/>
          </a:p>
        </p:txBody>
      </p:sp>
      <p:sp>
        <p:nvSpPr>
          <p:cNvPr id="19" name="Shape 16"/>
          <p:cNvSpPr/>
          <p:nvPr/>
        </p:nvSpPr>
        <p:spPr>
          <a:xfrm>
            <a:off x="3383280" y="5120640"/>
            <a:ext cx="2606040" cy="1234440"/>
          </a:xfrm>
          <a:prstGeom prst="roundRect">
            <a:avLst>
              <a:gd name="adj" fmla="val 5926"/>
            </a:avLst>
          </a:prstGeom>
          <a:ln/>
        </p:spPr>
        <p:style>
          <a:lnRef idx="1">
            <a:schemeClr val="accent5"/>
          </a:lnRef>
          <a:fillRef idx="3">
            <a:schemeClr val="accent5"/>
          </a:fillRef>
          <a:effectRef idx="2">
            <a:schemeClr val="accent5"/>
          </a:effectRef>
          <a:fontRef idx="minor">
            <a:schemeClr val="lt1"/>
          </a:fontRef>
        </p:style>
        <p:txBody>
          <a:bodyPr/>
          <a:lstStyle/>
          <a:p>
            <a:endParaRPr lang="en-US"/>
          </a:p>
        </p:txBody>
      </p:sp>
      <p:sp>
        <p:nvSpPr>
          <p:cNvPr id="20" name="Text 17"/>
          <p:cNvSpPr/>
          <p:nvPr/>
        </p:nvSpPr>
        <p:spPr>
          <a:xfrm>
            <a:off x="3383280" y="5248656"/>
            <a:ext cx="2606040" cy="640080"/>
          </a:xfrm>
          <a:prstGeom prst="rect">
            <a:avLst/>
          </a:prstGeom>
          <a:noFill/>
          <a:ln/>
        </p:spPr>
        <p:txBody>
          <a:bodyPr wrap="square" rtlCol="0" anchor="ctr"/>
          <a:lstStyle/>
          <a:p>
            <a:pPr marL="0" indent="0" algn="ctr">
              <a:buNone/>
            </a:pPr>
            <a:r>
              <a:rPr lang="en-US" sz="3000" b="1" dirty="0">
                <a:solidFill>
                  <a:srgbClr val="FFFF00"/>
                </a:solidFill>
                <a:latin typeface="Cambria" pitchFamily="34" charset="0"/>
                <a:ea typeface="Cambria" pitchFamily="34" charset="-122"/>
                <a:cs typeface="Cambria" pitchFamily="34" charset="-120"/>
              </a:rPr>
              <a:t>95</a:t>
            </a:r>
            <a:endParaRPr lang="en-US" sz="3000" dirty="0">
              <a:solidFill>
                <a:srgbClr val="FFFF00"/>
              </a:solidFill>
            </a:endParaRPr>
          </a:p>
        </p:txBody>
      </p:sp>
      <p:sp>
        <p:nvSpPr>
          <p:cNvPr id="21" name="Text 18"/>
          <p:cNvSpPr/>
          <p:nvPr/>
        </p:nvSpPr>
        <p:spPr>
          <a:xfrm>
            <a:off x="3474720" y="5897880"/>
            <a:ext cx="2423160" cy="365760"/>
          </a:xfrm>
          <a:prstGeom prst="rect">
            <a:avLst/>
          </a:prstGeom>
          <a:noFill/>
          <a:ln/>
        </p:spPr>
        <p:txBody>
          <a:bodyPr wrap="square" rtlCol="0" anchor="ctr"/>
          <a:lstStyle/>
          <a:p>
            <a:pPr marL="0" indent="0" algn="ctr">
              <a:buNone/>
            </a:pPr>
            <a:r>
              <a:rPr lang="en-US" sz="1100" dirty="0">
                <a:solidFill>
                  <a:srgbClr val="EEF3FC"/>
                </a:solidFill>
                <a:latin typeface="Calibri" pitchFamily="34" charset="0"/>
                <a:ea typeface="Calibri" pitchFamily="34" charset="-122"/>
                <a:cs typeface="Calibri" pitchFamily="34" charset="-120"/>
              </a:rPr>
              <a:t>Financial ratios (features)</a:t>
            </a:r>
            <a:endParaRPr lang="en-US" sz="1100" dirty="0"/>
          </a:p>
        </p:txBody>
      </p:sp>
      <p:sp>
        <p:nvSpPr>
          <p:cNvPr id="22" name="Shape 19"/>
          <p:cNvSpPr/>
          <p:nvPr/>
        </p:nvSpPr>
        <p:spPr>
          <a:xfrm>
            <a:off x="6217920" y="5120640"/>
            <a:ext cx="2606040" cy="1234440"/>
          </a:xfrm>
          <a:prstGeom prst="roundRect">
            <a:avLst>
              <a:gd name="adj" fmla="val 5926"/>
            </a:avLst>
          </a:prstGeom>
          <a:ln/>
        </p:spPr>
        <p:style>
          <a:lnRef idx="1">
            <a:schemeClr val="accent5"/>
          </a:lnRef>
          <a:fillRef idx="3">
            <a:schemeClr val="accent5"/>
          </a:fillRef>
          <a:effectRef idx="2">
            <a:schemeClr val="accent5"/>
          </a:effectRef>
          <a:fontRef idx="minor">
            <a:schemeClr val="lt1"/>
          </a:fontRef>
        </p:style>
        <p:txBody>
          <a:bodyPr/>
          <a:lstStyle/>
          <a:p>
            <a:endParaRPr lang="en-US"/>
          </a:p>
        </p:txBody>
      </p:sp>
      <p:sp>
        <p:nvSpPr>
          <p:cNvPr id="23" name="Text 20"/>
          <p:cNvSpPr/>
          <p:nvPr/>
        </p:nvSpPr>
        <p:spPr>
          <a:xfrm>
            <a:off x="6217920" y="5248656"/>
            <a:ext cx="2606040" cy="640080"/>
          </a:xfrm>
          <a:prstGeom prst="rect">
            <a:avLst/>
          </a:prstGeom>
          <a:noFill/>
          <a:ln/>
        </p:spPr>
        <p:txBody>
          <a:bodyPr wrap="square" rtlCol="0" anchor="ctr"/>
          <a:lstStyle/>
          <a:p>
            <a:pPr marL="0" indent="0" algn="ctr">
              <a:buNone/>
            </a:pPr>
            <a:r>
              <a:rPr lang="en-US" sz="3000" b="1" dirty="0">
                <a:solidFill>
                  <a:srgbClr val="FFFF00"/>
                </a:solidFill>
                <a:latin typeface="Cambria" pitchFamily="34" charset="0"/>
                <a:ea typeface="Cambria" pitchFamily="34" charset="-122"/>
                <a:cs typeface="Cambria" pitchFamily="34" charset="-120"/>
              </a:rPr>
              <a:t>0</a:t>
            </a:r>
            <a:endParaRPr lang="en-US" sz="3000" dirty="0">
              <a:solidFill>
                <a:srgbClr val="FFFF00"/>
              </a:solidFill>
            </a:endParaRPr>
          </a:p>
        </p:txBody>
      </p:sp>
      <p:sp>
        <p:nvSpPr>
          <p:cNvPr id="24" name="Text 21"/>
          <p:cNvSpPr/>
          <p:nvPr/>
        </p:nvSpPr>
        <p:spPr>
          <a:xfrm>
            <a:off x="6309360" y="5897880"/>
            <a:ext cx="2423160" cy="365760"/>
          </a:xfrm>
          <a:prstGeom prst="rect">
            <a:avLst/>
          </a:prstGeom>
          <a:noFill/>
          <a:ln/>
        </p:spPr>
        <p:txBody>
          <a:bodyPr wrap="square" rtlCol="0" anchor="ctr"/>
          <a:lstStyle/>
          <a:p>
            <a:pPr marL="0" indent="0" algn="ctr">
              <a:buNone/>
            </a:pPr>
            <a:r>
              <a:rPr lang="en-US" sz="1100" dirty="0">
                <a:solidFill>
                  <a:srgbClr val="EEF3FC"/>
                </a:solidFill>
                <a:latin typeface="Calibri" pitchFamily="34" charset="0"/>
                <a:ea typeface="Calibri" pitchFamily="34" charset="-122"/>
                <a:cs typeface="Calibri" pitchFamily="34" charset="-120"/>
              </a:rPr>
              <a:t>Missing values</a:t>
            </a:r>
            <a:endParaRPr lang="en-US" sz="1100" dirty="0"/>
          </a:p>
        </p:txBody>
      </p:sp>
      <p:sp>
        <p:nvSpPr>
          <p:cNvPr id="25" name="Shape 22"/>
          <p:cNvSpPr/>
          <p:nvPr/>
        </p:nvSpPr>
        <p:spPr>
          <a:xfrm>
            <a:off x="9052560" y="5120640"/>
            <a:ext cx="2606040" cy="1234440"/>
          </a:xfrm>
          <a:prstGeom prst="roundRect">
            <a:avLst>
              <a:gd name="adj" fmla="val 5926"/>
            </a:avLst>
          </a:prstGeom>
          <a:ln/>
        </p:spPr>
        <p:style>
          <a:lnRef idx="1">
            <a:schemeClr val="accent5"/>
          </a:lnRef>
          <a:fillRef idx="3">
            <a:schemeClr val="accent5"/>
          </a:fillRef>
          <a:effectRef idx="2">
            <a:schemeClr val="accent5"/>
          </a:effectRef>
          <a:fontRef idx="minor">
            <a:schemeClr val="lt1"/>
          </a:fontRef>
        </p:style>
        <p:txBody>
          <a:bodyPr/>
          <a:lstStyle/>
          <a:p>
            <a:endParaRPr lang="en-US"/>
          </a:p>
        </p:txBody>
      </p:sp>
      <p:sp>
        <p:nvSpPr>
          <p:cNvPr id="26" name="Text 23"/>
          <p:cNvSpPr/>
          <p:nvPr/>
        </p:nvSpPr>
        <p:spPr>
          <a:xfrm>
            <a:off x="9052560" y="5248656"/>
            <a:ext cx="2606040" cy="640080"/>
          </a:xfrm>
          <a:prstGeom prst="rect">
            <a:avLst/>
          </a:prstGeom>
          <a:noFill/>
          <a:ln/>
        </p:spPr>
        <p:txBody>
          <a:bodyPr wrap="square" rtlCol="0" anchor="ctr"/>
          <a:lstStyle/>
          <a:p>
            <a:pPr marL="0" indent="0" algn="ctr">
              <a:buNone/>
            </a:pPr>
            <a:r>
              <a:rPr lang="en-US" sz="3000" b="1" dirty="0">
                <a:solidFill>
                  <a:srgbClr val="FFFF00"/>
                </a:solidFill>
                <a:latin typeface="Cambria" pitchFamily="34" charset="0"/>
                <a:ea typeface="Cambria" pitchFamily="34" charset="-122"/>
                <a:cs typeface="Cambria" pitchFamily="34" charset="-120"/>
              </a:rPr>
              <a:t>3.23%</a:t>
            </a:r>
            <a:endParaRPr lang="en-US" sz="3000" dirty="0">
              <a:solidFill>
                <a:srgbClr val="FFFF00"/>
              </a:solidFill>
            </a:endParaRPr>
          </a:p>
        </p:txBody>
      </p:sp>
      <p:sp>
        <p:nvSpPr>
          <p:cNvPr id="27" name="Text 24"/>
          <p:cNvSpPr/>
          <p:nvPr/>
        </p:nvSpPr>
        <p:spPr>
          <a:xfrm>
            <a:off x="9144000" y="5897880"/>
            <a:ext cx="2423160" cy="365760"/>
          </a:xfrm>
          <a:prstGeom prst="rect">
            <a:avLst/>
          </a:prstGeom>
          <a:noFill/>
          <a:ln/>
        </p:spPr>
        <p:txBody>
          <a:bodyPr wrap="square" rtlCol="0" anchor="ctr"/>
          <a:lstStyle/>
          <a:p>
            <a:pPr marL="0" indent="0" algn="ctr">
              <a:buNone/>
            </a:pPr>
            <a:r>
              <a:rPr lang="en-US" sz="1100" dirty="0">
                <a:solidFill>
                  <a:srgbClr val="EEF3FC"/>
                </a:solidFill>
                <a:latin typeface="Calibri" pitchFamily="34" charset="0"/>
                <a:ea typeface="Calibri" pitchFamily="34" charset="-122"/>
                <a:cs typeface="Calibri" pitchFamily="34" charset="-120"/>
              </a:rPr>
              <a:t>Bankrupt companies</a:t>
            </a:r>
            <a:endParaRPr lang="en-US" sz="1100" dirty="0"/>
          </a:p>
        </p:txBody>
      </p:sp>
      <p:sp>
        <p:nvSpPr>
          <p:cNvPr id="28" name="Text 25"/>
          <p:cNvSpPr/>
          <p:nvPr/>
        </p:nvSpPr>
        <p:spPr>
          <a:xfrm>
            <a:off x="11503152" y="6473952"/>
            <a:ext cx="365760" cy="274320"/>
          </a:xfrm>
          <a:prstGeom prst="rect">
            <a:avLst/>
          </a:prstGeom>
          <a:noFill/>
          <a:ln/>
        </p:spPr>
        <p:txBody>
          <a:bodyPr wrap="square" rtlCol="0" anchor="ctr"/>
          <a:lstStyle/>
          <a:p>
            <a:pPr marL="0" indent="0" algn="r">
              <a:buNone/>
            </a:pPr>
            <a:r>
              <a:rPr lang="en-US" sz="900" dirty="0">
                <a:solidFill>
                  <a:srgbClr val="5B6472"/>
                </a:solidFill>
              </a:rPr>
              <a:t>4</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411480"/>
            <a:ext cx="7315200" cy="64008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Dataset Structure</a:t>
            </a:r>
            <a:endParaRPr lang="en-US" sz="3200" dirty="0"/>
          </a:p>
        </p:txBody>
      </p:sp>
      <p:sp>
        <p:nvSpPr>
          <p:cNvPr id="3" name="Text 1"/>
          <p:cNvSpPr/>
          <p:nvPr/>
        </p:nvSpPr>
        <p:spPr>
          <a:xfrm>
            <a:off x="548640" y="960120"/>
            <a:ext cx="9144000" cy="365760"/>
          </a:xfrm>
          <a:prstGeom prst="rect">
            <a:avLst/>
          </a:prstGeom>
          <a:noFill/>
          <a:ln/>
        </p:spPr>
        <p:txBody>
          <a:bodyPr wrap="square" rtlCol="0" anchor="ctr"/>
          <a:lstStyle/>
          <a:p>
            <a:pPr marL="0" indent="0">
              <a:buNone/>
            </a:pPr>
            <a:r>
              <a:rPr lang="en-US" sz="1350" i="1" dirty="0">
                <a:solidFill>
                  <a:srgbClr val="5B6472"/>
                </a:solidFill>
              </a:rPr>
              <a:t>6,819 companies × 96 columns (1 answer column + 95 financial ratios)</a:t>
            </a:r>
            <a:endParaRPr lang="en-US" sz="1350" dirty="0"/>
          </a:p>
        </p:txBody>
      </p:sp>
      <p:graphicFrame>
        <p:nvGraphicFramePr>
          <p:cNvPr id="4" name="Chart 0"/>
          <p:cNvGraphicFramePr/>
          <p:nvPr/>
        </p:nvGraphicFramePr>
        <p:xfrm>
          <a:off x="548640" y="1508760"/>
          <a:ext cx="448056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548640" y="5806440"/>
            <a:ext cx="4480560" cy="457200"/>
          </a:xfrm>
          <a:prstGeom prst="rect">
            <a:avLst/>
          </a:prstGeom>
          <a:noFill/>
          <a:ln/>
        </p:spPr>
        <p:txBody>
          <a:bodyPr wrap="square" rtlCol="0" anchor="ctr"/>
          <a:lstStyle/>
          <a:p>
            <a:pPr marL="0" indent="0" algn="ctr">
              <a:buNone/>
            </a:pPr>
            <a:r>
              <a:rPr lang="en-US" sz="1100" i="1" dirty="0">
                <a:solidFill>
                  <a:srgbClr val="5B6472"/>
                </a:solidFill>
                <a:latin typeface="Calibri" pitchFamily="34" charset="0"/>
                <a:ea typeface="Calibri" pitchFamily="34" charset="-122"/>
                <a:cs typeface="Calibri" pitchFamily="34" charset="-120"/>
              </a:rPr>
              <a:t>Very imbalanced — only 220 of 6,819 companies went bankrupt</a:t>
            </a:r>
            <a:endParaRPr lang="en-US" sz="1100" dirty="0"/>
          </a:p>
        </p:txBody>
      </p:sp>
      <p:sp>
        <p:nvSpPr>
          <p:cNvPr id="6" name="Text 3"/>
          <p:cNvSpPr/>
          <p:nvPr/>
        </p:nvSpPr>
        <p:spPr>
          <a:xfrm>
            <a:off x="5349240" y="1554480"/>
            <a:ext cx="6309360" cy="36576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95 Features in 5 Groups</a:t>
            </a:r>
            <a:endParaRPr lang="en-US" sz="1500" dirty="0"/>
          </a:p>
        </p:txBody>
      </p:sp>
      <p:sp>
        <p:nvSpPr>
          <p:cNvPr id="7" name="Shape 4"/>
          <p:cNvSpPr/>
          <p:nvPr/>
        </p:nvSpPr>
        <p:spPr>
          <a:xfrm>
            <a:off x="5349240" y="2011680"/>
            <a:ext cx="6309360" cy="713232"/>
          </a:xfrm>
          <a:prstGeom prst="roundRect">
            <a:avLst>
              <a:gd name="adj" fmla="val 7692"/>
            </a:avLst>
          </a:prstGeom>
          <a:solidFill>
            <a:srgbClr val="EEF3FC"/>
          </a:solidFill>
          <a:ln/>
        </p:spPr>
        <p:txBody>
          <a:bodyPr/>
          <a:lstStyle/>
          <a:p>
            <a:endParaRPr lang="en-US"/>
          </a:p>
        </p:txBody>
      </p:sp>
      <p:sp>
        <p:nvSpPr>
          <p:cNvPr id="8" name="Shape 5"/>
          <p:cNvSpPr/>
          <p:nvPr/>
        </p:nvSpPr>
        <p:spPr>
          <a:xfrm>
            <a:off x="5504688" y="2231136"/>
            <a:ext cx="274320" cy="274320"/>
          </a:xfrm>
          <a:prstGeom prst="ellipse">
            <a:avLst/>
          </a:prstGeom>
          <a:solidFill>
            <a:srgbClr val="1E2761"/>
          </a:solidFill>
          <a:ln/>
        </p:spPr>
        <p:txBody>
          <a:bodyPr/>
          <a:lstStyle/>
          <a:p>
            <a:endParaRPr lang="en-US"/>
          </a:p>
        </p:txBody>
      </p:sp>
      <p:sp>
        <p:nvSpPr>
          <p:cNvPr id="9" name="Text 6"/>
          <p:cNvSpPr/>
          <p:nvPr/>
        </p:nvSpPr>
        <p:spPr>
          <a:xfrm>
            <a:off x="5504688" y="2231136"/>
            <a:ext cx="274320" cy="2743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7"/>
          <p:cNvSpPr/>
          <p:nvPr/>
        </p:nvSpPr>
        <p:spPr>
          <a:xfrm>
            <a:off x="5943600" y="2066544"/>
            <a:ext cx="5532120" cy="621792"/>
          </a:xfrm>
          <a:prstGeom prst="rect">
            <a:avLst/>
          </a:prstGeom>
          <a:noFill/>
          <a:ln/>
        </p:spPr>
        <p:txBody>
          <a:bodyPr wrap="square" rtlCol="0" anchor="ctr"/>
          <a:lstStyle/>
          <a:p>
            <a:pPr marL="0" indent="0">
              <a:lnSpc>
                <a:spcPct val="105000"/>
              </a:lnSpc>
              <a:buNone/>
            </a:pPr>
            <a:r>
              <a:rPr lang="en-US" sz="1250" b="1" dirty="0">
                <a:solidFill>
                  <a:srgbClr val="1E2761"/>
                </a:solidFill>
                <a:latin typeface="Calibri" pitchFamily="34" charset="0"/>
                <a:ea typeface="Calibri" pitchFamily="34" charset="-122"/>
                <a:cs typeface="Calibri" pitchFamily="34" charset="-120"/>
              </a:rPr>
              <a:t>Profitability</a:t>
            </a:r>
            <a:br>
              <a:rPr lang="en-US" sz="1250" b="1" dirty="0">
                <a:solidFill>
                  <a:srgbClr val="1E2761"/>
                </a:solidFill>
                <a:latin typeface="Calibri" pitchFamily="34" charset="0"/>
                <a:ea typeface="Calibri" pitchFamily="34" charset="-122"/>
                <a:cs typeface="Calibri" pitchFamily="34" charset="-120"/>
              </a:rPr>
            </a:br>
            <a:r>
              <a:rPr lang="en-US" sz="1050" dirty="0">
                <a:solidFill>
                  <a:srgbClr val="5B6472"/>
                </a:solidFill>
                <a:latin typeface="Calibri" pitchFamily="34" charset="0"/>
                <a:ea typeface="Calibri" pitchFamily="34" charset="-122"/>
                <a:cs typeface="Calibri" pitchFamily="34" charset="-120"/>
              </a:rPr>
              <a:t>How much profit the company makes. Examples: Return on Assets (ROA), Operating Gross Margin, Net Income to Total Assets</a:t>
            </a:r>
            <a:endParaRPr lang="en-US" sz="1250" dirty="0"/>
          </a:p>
        </p:txBody>
      </p:sp>
      <p:sp>
        <p:nvSpPr>
          <p:cNvPr id="11" name="Shape 8"/>
          <p:cNvSpPr/>
          <p:nvPr/>
        </p:nvSpPr>
        <p:spPr>
          <a:xfrm>
            <a:off x="5349240" y="2834640"/>
            <a:ext cx="6309360" cy="713232"/>
          </a:xfrm>
          <a:prstGeom prst="roundRect">
            <a:avLst>
              <a:gd name="adj" fmla="val 7692"/>
            </a:avLst>
          </a:prstGeom>
          <a:solidFill>
            <a:srgbClr val="FFFFFF"/>
          </a:solidFill>
          <a:ln/>
        </p:spPr>
        <p:txBody>
          <a:bodyPr/>
          <a:lstStyle/>
          <a:p>
            <a:endParaRPr lang="en-US"/>
          </a:p>
        </p:txBody>
      </p:sp>
      <p:sp>
        <p:nvSpPr>
          <p:cNvPr id="12" name="Shape 9"/>
          <p:cNvSpPr/>
          <p:nvPr/>
        </p:nvSpPr>
        <p:spPr>
          <a:xfrm>
            <a:off x="5504688" y="3054096"/>
            <a:ext cx="274320" cy="274320"/>
          </a:xfrm>
          <a:prstGeom prst="ellipse">
            <a:avLst/>
          </a:prstGeom>
          <a:solidFill>
            <a:srgbClr val="1E2761"/>
          </a:solidFill>
          <a:ln/>
        </p:spPr>
        <p:txBody>
          <a:bodyPr/>
          <a:lstStyle/>
          <a:p>
            <a:endParaRPr lang="en-US"/>
          </a:p>
        </p:txBody>
      </p:sp>
      <p:sp>
        <p:nvSpPr>
          <p:cNvPr id="13" name="Text 10"/>
          <p:cNvSpPr/>
          <p:nvPr/>
        </p:nvSpPr>
        <p:spPr>
          <a:xfrm>
            <a:off x="5504688" y="3054096"/>
            <a:ext cx="274320" cy="2743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1"/>
          <p:cNvSpPr/>
          <p:nvPr/>
        </p:nvSpPr>
        <p:spPr>
          <a:xfrm>
            <a:off x="5943600" y="2889504"/>
            <a:ext cx="5532120" cy="621792"/>
          </a:xfrm>
          <a:prstGeom prst="rect">
            <a:avLst/>
          </a:prstGeom>
          <a:noFill/>
          <a:ln/>
        </p:spPr>
        <p:txBody>
          <a:bodyPr wrap="square" rtlCol="0" anchor="ctr"/>
          <a:lstStyle/>
          <a:p>
            <a:pPr marL="0" indent="0">
              <a:lnSpc>
                <a:spcPct val="105000"/>
              </a:lnSpc>
              <a:buNone/>
            </a:pPr>
            <a:r>
              <a:rPr lang="en-US" sz="1250" b="1" dirty="0">
                <a:solidFill>
                  <a:srgbClr val="1E2761"/>
                </a:solidFill>
                <a:latin typeface="Calibri" pitchFamily="34" charset="0"/>
                <a:ea typeface="Calibri" pitchFamily="34" charset="-122"/>
                <a:cs typeface="Calibri" pitchFamily="34" charset="-120"/>
              </a:rPr>
              <a:t>Liquidity &amp; Solvency</a:t>
            </a:r>
            <a:br>
              <a:rPr lang="en-US" sz="1250" b="1" dirty="0">
                <a:solidFill>
                  <a:srgbClr val="1E2761"/>
                </a:solidFill>
                <a:latin typeface="Calibri" pitchFamily="34" charset="0"/>
                <a:ea typeface="Calibri" pitchFamily="34" charset="-122"/>
                <a:cs typeface="Calibri" pitchFamily="34" charset="-120"/>
              </a:rPr>
            </a:br>
            <a:r>
              <a:rPr lang="en-US" sz="1050" dirty="0">
                <a:solidFill>
                  <a:srgbClr val="5B6472"/>
                </a:solidFill>
                <a:latin typeface="Calibri" pitchFamily="34" charset="0"/>
                <a:ea typeface="Calibri" pitchFamily="34" charset="-122"/>
                <a:cs typeface="Calibri" pitchFamily="34" charset="-120"/>
              </a:rPr>
              <a:t>Can the company pay its bills? Examples: Current Ratio, Quick Ratio, Debt Ratio %, Cash/Total Assets</a:t>
            </a:r>
            <a:endParaRPr lang="en-US" sz="1250" dirty="0"/>
          </a:p>
        </p:txBody>
      </p:sp>
      <p:sp>
        <p:nvSpPr>
          <p:cNvPr id="15" name="Shape 12"/>
          <p:cNvSpPr/>
          <p:nvPr/>
        </p:nvSpPr>
        <p:spPr>
          <a:xfrm>
            <a:off x="5349240" y="3657600"/>
            <a:ext cx="6309360" cy="713232"/>
          </a:xfrm>
          <a:prstGeom prst="roundRect">
            <a:avLst>
              <a:gd name="adj" fmla="val 7692"/>
            </a:avLst>
          </a:prstGeom>
          <a:solidFill>
            <a:srgbClr val="EEF3FC"/>
          </a:solidFill>
          <a:ln/>
        </p:spPr>
        <p:txBody>
          <a:bodyPr/>
          <a:lstStyle/>
          <a:p>
            <a:endParaRPr lang="en-US"/>
          </a:p>
        </p:txBody>
      </p:sp>
      <p:sp>
        <p:nvSpPr>
          <p:cNvPr id="16" name="Shape 13"/>
          <p:cNvSpPr/>
          <p:nvPr/>
        </p:nvSpPr>
        <p:spPr>
          <a:xfrm>
            <a:off x="5504688" y="3877056"/>
            <a:ext cx="274320" cy="274320"/>
          </a:xfrm>
          <a:prstGeom prst="ellipse">
            <a:avLst/>
          </a:prstGeom>
          <a:solidFill>
            <a:srgbClr val="1E2761"/>
          </a:solidFill>
          <a:ln/>
        </p:spPr>
        <p:txBody>
          <a:bodyPr/>
          <a:lstStyle/>
          <a:p>
            <a:endParaRPr lang="en-US"/>
          </a:p>
        </p:txBody>
      </p:sp>
      <p:sp>
        <p:nvSpPr>
          <p:cNvPr id="17" name="Text 14"/>
          <p:cNvSpPr/>
          <p:nvPr/>
        </p:nvSpPr>
        <p:spPr>
          <a:xfrm>
            <a:off x="5504688" y="3877056"/>
            <a:ext cx="274320" cy="2743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5"/>
          <p:cNvSpPr/>
          <p:nvPr/>
        </p:nvSpPr>
        <p:spPr>
          <a:xfrm>
            <a:off x="5943600" y="3712464"/>
            <a:ext cx="5532120" cy="621792"/>
          </a:xfrm>
          <a:prstGeom prst="rect">
            <a:avLst/>
          </a:prstGeom>
          <a:noFill/>
          <a:ln/>
        </p:spPr>
        <p:txBody>
          <a:bodyPr wrap="square" rtlCol="0" anchor="ctr"/>
          <a:lstStyle/>
          <a:p>
            <a:pPr marL="0" indent="0">
              <a:lnSpc>
                <a:spcPct val="105000"/>
              </a:lnSpc>
              <a:buNone/>
            </a:pPr>
            <a:r>
              <a:rPr lang="en-US" sz="1250" b="1" dirty="0">
                <a:solidFill>
                  <a:srgbClr val="1E2761"/>
                </a:solidFill>
                <a:latin typeface="Calibri" pitchFamily="34" charset="0"/>
                <a:ea typeface="Calibri" pitchFamily="34" charset="-122"/>
                <a:cs typeface="Calibri" pitchFamily="34" charset="-120"/>
              </a:rPr>
              <a:t>Leverage &amp; Capital Structure</a:t>
            </a:r>
            <a:br>
              <a:rPr lang="en-US" sz="1250" b="1" dirty="0">
                <a:solidFill>
                  <a:srgbClr val="1E2761"/>
                </a:solidFill>
                <a:latin typeface="Calibri" pitchFamily="34" charset="0"/>
                <a:ea typeface="Calibri" pitchFamily="34" charset="-122"/>
                <a:cs typeface="Calibri" pitchFamily="34" charset="-120"/>
              </a:rPr>
            </a:br>
            <a:r>
              <a:rPr lang="en-US" sz="1050" dirty="0">
                <a:solidFill>
                  <a:srgbClr val="5B6472"/>
                </a:solidFill>
                <a:latin typeface="Calibri" pitchFamily="34" charset="0"/>
                <a:ea typeface="Calibri" pitchFamily="34" charset="-122"/>
                <a:cs typeface="Calibri" pitchFamily="34" charset="-120"/>
              </a:rPr>
              <a:t>How much the company borrows. Examples: Total Debt/Net Worth, Liability to Equity, Financial Leverage</a:t>
            </a:r>
            <a:endParaRPr lang="en-US" sz="1250" dirty="0"/>
          </a:p>
        </p:txBody>
      </p:sp>
      <p:sp>
        <p:nvSpPr>
          <p:cNvPr id="19" name="Shape 16"/>
          <p:cNvSpPr/>
          <p:nvPr/>
        </p:nvSpPr>
        <p:spPr>
          <a:xfrm>
            <a:off x="5349240" y="4480560"/>
            <a:ext cx="6309360" cy="713232"/>
          </a:xfrm>
          <a:prstGeom prst="roundRect">
            <a:avLst>
              <a:gd name="adj" fmla="val 7692"/>
            </a:avLst>
          </a:prstGeom>
          <a:solidFill>
            <a:srgbClr val="FFFFFF"/>
          </a:solidFill>
          <a:ln/>
        </p:spPr>
        <p:txBody>
          <a:bodyPr/>
          <a:lstStyle/>
          <a:p>
            <a:endParaRPr lang="en-US"/>
          </a:p>
        </p:txBody>
      </p:sp>
      <p:sp>
        <p:nvSpPr>
          <p:cNvPr id="20" name="Shape 17"/>
          <p:cNvSpPr/>
          <p:nvPr/>
        </p:nvSpPr>
        <p:spPr>
          <a:xfrm>
            <a:off x="5504688" y="4700016"/>
            <a:ext cx="274320" cy="274320"/>
          </a:xfrm>
          <a:prstGeom prst="ellipse">
            <a:avLst/>
          </a:prstGeom>
          <a:solidFill>
            <a:srgbClr val="1E2761"/>
          </a:solidFill>
          <a:ln/>
        </p:spPr>
        <p:txBody>
          <a:bodyPr/>
          <a:lstStyle/>
          <a:p>
            <a:endParaRPr lang="en-US"/>
          </a:p>
        </p:txBody>
      </p:sp>
      <p:sp>
        <p:nvSpPr>
          <p:cNvPr id="21" name="Text 18"/>
          <p:cNvSpPr/>
          <p:nvPr/>
        </p:nvSpPr>
        <p:spPr>
          <a:xfrm>
            <a:off x="5504688" y="4700016"/>
            <a:ext cx="274320" cy="2743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19"/>
          <p:cNvSpPr/>
          <p:nvPr/>
        </p:nvSpPr>
        <p:spPr>
          <a:xfrm>
            <a:off x="5943600" y="4535424"/>
            <a:ext cx="5532120" cy="621792"/>
          </a:xfrm>
          <a:prstGeom prst="rect">
            <a:avLst/>
          </a:prstGeom>
          <a:noFill/>
          <a:ln/>
        </p:spPr>
        <p:txBody>
          <a:bodyPr wrap="square" rtlCol="0" anchor="ctr"/>
          <a:lstStyle/>
          <a:p>
            <a:pPr marL="0" indent="0">
              <a:lnSpc>
                <a:spcPct val="105000"/>
              </a:lnSpc>
              <a:buNone/>
            </a:pPr>
            <a:r>
              <a:rPr lang="en-US" sz="1250" b="1" dirty="0">
                <a:solidFill>
                  <a:srgbClr val="1E2761"/>
                </a:solidFill>
                <a:latin typeface="Calibri" pitchFamily="34" charset="0"/>
                <a:ea typeface="Calibri" pitchFamily="34" charset="-122"/>
                <a:cs typeface="Calibri" pitchFamily="34" charset="-120"/>
              </a:rPr>
              <a:t>Efficiency / Turnover</a:t>
            </a:r>
            <a:br>
              <a:rPr lang="en-US" sz="1250" b="1" dirty="0">
                <a:solidFill>
                  <a:srgbClr val="1E2761"/>
                </a:solidFill>
                <a:latin typeface="Calibri" pitchFamily="34" charset="0"/>
                <a:ea typeface="Calibri" pitchFamily="34" charset="-122"/>
                <a:cs typeface="Calibri" pitchFamily="34" charset="-120"/>
              </a:rPr>
            </a:br>
            <a:r>
              <a:rPr lang="en-US" sz="1050" dirty="0">
                <a:solidFill>
                  <a:srgbClr val="5B6472"/>
                </a:solidFill>
                <a:latin typeface="Calibri" pitchFamily="34" charset="0"/>
                <a:ea typeface="Calibri" pitchFamily="34" charset="-122"/>
                <a:cs typeface="Calibri" pitchFamily="34" charset="-120"/>
              </a:rPr>
              <a:t>How well it uses what it owns. Examples: Total Asset Turnover, Inventory Turnover, Receivable Turnover</a:t>
            </a:r>
            <a:endParaRPr lang="en-US" sz="1250" dirty="0"/>
          </a:p>
        </p:txBody>
      </p:sp>
      <p:sp>
        <p:nvSpPr>
          <p:cNvPr id="23" name="Shape 20"/>
          <p:cNvSpPr/>
          <p:nvPr/>
        </p:nvSpPr>
        <p:spPr>
          <a:xfrm>
            <a:off x="5349240" y="5303520"/>
            <a:ext cx="6309360" cy="713232"/>
          </a:xfrm>
          <a:prstGeom prst="roundRect">
            <a:avLst>
              <a:gd name="adj" fmla="val 7692"/>
            </a:avLst>
          </a:prstGeom>
          <a:solidFill>
            <a:srgbClr val="EEF3FC"/>
          </a:solidFill>
          <a:ln/>
        </p:spPr>
        <p:txBody>
          <a:bodyPr/>
          <a:lstStyle/>
          <a:p>
            <a:endParaRPr lang="en-US"/>
          </a:p>
        </p:txBody>
      </p:sp>
      <p:sp>
        <p:nvSpPr>
          <p:cNvPr id="24" name="Shape 21"/>
          <p:cNvSpPr/>
          <p:nvPr/>
        </p:nvSpPr>
        <p:spPr>
          <a:xfrm>
            <a:off x="5504688" y="5522976"/>
            <a:ext cx="274320" cy="274320"/>
          </a:xfrm>
          <a:prstGeom prst="ellipse">
            <a:avLst/>
          </a:prstGeom>
          <a:solidFill>
            <a:srgbClr val="1E2761"/>
          </a:solidFill>
          <a:ln/>
        </p:spPr>
        <p:txBody>
          <a:bodyPr/>
          <a:lstStyle/>
          <a:p>
            <a:endParaRPr lang="en-US"/>
          </a:p>
        </p:txBody>
      </p:sp>
      <p:sp>
        <p:nvSpPr>
          <p:cNvPr id="25" name="Text 22"/>
          <p:cNvSpPr/>
          <p:nvPr/>
        </p:nvSpPr>
        <p:spPr>
          <a:xfrm>
            <a:off x="5504688" y="5522976"/>
            <a:ext cx="274320" cy="2743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6" name="Text 23"/>
          <p:cNvSpPr/>
          <p:nvPr/>
        </p:nvSpPr>
        <p:spPr>
          <a:xfrm>
            <a:off x="5943600" y="5358384"/>
            <a:ext cx="5532120" cy="621792"/>
          </a:xfrm>
          <a:prstGeom prst="rect">
            <a:avLst/>
          </a:prstGeom>
          <a:noFill/>
          <a:ln/>
        </p:spPr>
        <p:txBody>
          <a:bodyPr wrap="square" rtlCol="0" anchor="ctr"/>
          <a:lstStyle/>
          <a:p>
            <a:pPr marL="0" indent="0">
              <a:lnSpc>
                <a:spcPct val="105000"/>
              </a:lnSpc>
              <a:buNone/>
            </a:pPr>
            <a:r>
              <a:rPr lang="en-US" sz="1250" b="1" dirty="0">
                <a:solidFill>
                  <a:srgbClr val="1E2761"/>
                </a:solidFill>
                <a:latin typeface="Calibri" pitchFamily="34" charset="0"/>
                <a:ea typeface="Calibri" pitchFamily="34" charset="-122"/>
                <a:cs typeface="Calibri" pitchFamily="34" charset="-120"/>
              </a:rPr>
              <a:t>Growth</a:t>
            </a:r>
            <a:br>
              <a:rPr lang="en-US" sz="1250" b="1" dirty="0">
                <a:solidFill>
                  <a:srgbClr val="1E2761"/>
                </a:solidFill>
                <a:latin typeface="Calibri" pitchFamily="34" charset="0"/>
                <a:ea typeface="Calibri" pitchFamily="34" charset="-122"/>
                <a:cs typeface="Calibri" pitchFamily="34" charset="-120"/>
              </a:rPr>
            </a:br>
            <a:r>
              <a:rPr lang="en-US" sz="1050" dirty="0">
                <a:solidFill>
                  <a:srgbClr val="5B6472"/>
                </a:solidFill>
                <a:latin typeface="Calibri" pitchFamily="34" charset="0"/>
                <a:ea typeface="Calibri" pitchFamily="34" charset="-122"/>
                <a:cs typeface="Calibri" pitchFamily="34" charset="-120"/>
              </a:rPr>
              <a:t>How fast the company is growing. Examples: Total Asset Growth Rate, Net Value Growth Rate, Profit Growth Rate</a:t>
            </a:r>
            <a:endParaRPr lang="en-US" sz="1250" dirty="0"/>
          </a:p>
        </p:txBody>
      </p:sp>
      <p:sp>
        <p:nvSpPr>
          <p:cNvPr id="27" name="Text 24"/>
          <p:cNvSpPr/>
          <p:nvPr/>
        </p:nvSpPr>
        <p:spPr>
          <a:xfrm>
            <a:off x="11503152" y="6473952"/>
            <a:ext cx="365760" cy="274320"/>
          </a:xfrm>
          <a:prstGeom prst="rect">
            <a:avLst/>
          </a:prstGeom>
          <a:noFill/>
          <a:ln/>
        </p:spPr>
        <p:txBody>
          <a:bodyPr wrap="square" rtlCol="0" anchor="ctr"/>
          <a:lstStyle/>
          <a:p>
            <a:pPr marL="0" indent="0" algn="r">
              <a:buNone/>
            </a:pPr>
            <a:r>
              <a:rPr lang="en-US" sz="900" dirty="0">
                <a:solidFill>
                  <a:srgbClr val="5B6472"/>
                </a:solidFill>
              </a:rPr>
              <a:t>5</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411480"/>
            <a:ext cx="8229600" cy="64008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Dataset Justification</a:t>
            </a:r>
            <a:endParaRPr lang="en-US" sz="3200" dirty="0"/>
          </a:p>
        </p:txBody>
      </p:sp>
      <p:sp>
        <p:nvSpPr>
          <p:cNvPr id="3" name="Text 1"/>
          <p:cNvSpPr/>
          <p:nvPr/>
        </p:nvSpPr>
        <p:spPr>
          <a:xfrm>
            <a:off x="548640" y="960120"/>
            <a:ext cx="8229600" cy="365760"/>
          </a:xfrm>
          <a:prstGeom prst="rect">
            <a:avLst/>
          </a:prstGeom>
          <a:noFill/>
          <a:ln/>
        </p:spPr>
        <p:txBody>
          <a:bodyPr wrap="square" rtlCol="0" anchor="ctr"/>
          <a:lstStyle/>
          <a:p>
            <a:pPr marL="0" indent="0">
              <a:buNone/>
            </a:pPr>
            <a:r>
              <a:rPr lang="en-US" sz="1350" i="1" dirty="0">
                <a:solidFill>
                  <a:srgbClr val="5B6472"/>
                </a:solidFill>
              </a:rPr>
              <a:t>Why this dataset fits our problem</a:t>
            </a:r>
            <a:endParaRPr lang="en-US" sz="1350" dirty="0"/>
          </a:p>
        </p:txBody>
      </p:sp>
      <p:sp>
        <p:nvSpPr>
          <p:cNvPr id="4" name="Shape 2"/>
          <p:cNvSpPr/>
          <p:nvPr/>
        </p:nvSpPr>
        <p:spPr>
          <a:xfrm>
            <a:off x="10607040" y="411480"/>
            <a:ext cx="822960" cy="822960"/>
          </a:xfrm>
          <a:prstGeom prst="ellipse">
            <a:avLst/>
          </a:prstGeom>
          <a:ln/>
        </p:spPr>
        <p:style>
          <a:lnRef idx="1">
            <a:schemeClr val="accent5"/>
          </a:lnRef>
          <a:fillRef idx="3">
            <a:schemeClr val="accent5"/>
          </a:fillRef>
          <a:effectRef idx="2">
            <a:schemeClr val="accent5"/>
          </a:effectRef>
          <a:fontRef idx="minor">
            <a:schemeClr val="lt1"/>
          </a:fontRef>
        </p:style>
        <p:txBody>
          <a:bodyPr/>
          <a:lstStyle/>
          <a:p>
            <a:endParaRPr lang="en-US"/>
          </a:p>
        </p:txBody>
      </p:sp>
      <p:pic>
        <p:nvPicPr>
          <p:cNvPr id="5" name="Image 0" descr="/home/claude/pptx/icons/check.png"/>
          <p:cNvPicPr>
            <a:picLocks noChangeAspect="1"/>
          </p:cNvPicPr>
          <p:nvPr/>
        </p:nvPicPr>
        <p:blipFill>
          <a:blip r:embed="rId3">
            <a:lum bright="70000" contrast="-70000"/>
          </a:blip>
          <a:stretch>
            <a:fillRect/>
          </a:stretch>
        </p:blipFill>
        <p:spPr>
          <a:xfrm>
            <a:off x="10821010" y="625450"/>
            <a:ext cx="395021" cy="395021"/>
          </a:xfrm>
          <a:prstGeom prst="rect">
            <a:avLst/>
          </a:prstGeom>
        </p:spPr>
      </p:pic>
      <p:sp>
        <p:nvSpPr>
          <p:cNvPr id="6" name="Shape 3"/>
          <p:cNvSpPr/>
          <p:nvPr/>
        </p:nvSpPr>
        <p:spPr>
          <a:xfrm>
            <a:off x="548640" y="1600200"/>
            <a:ext cx="5440680" cy="1874520"/>
          </a:xfrm>
          <a:prstGeom prst="roundRect">
            <a:avLst>
              <a:gd name="adj" fmla="val 3902"/>
            </a:avLst>
          </a:prstGeom>
          <a:solidFill>
            <a:srgbClr val="EEF3FC"/>
          </a:solidFill>
          <a:ln/>
        </p:spPr>
        <p:txBody>
          <a:bodyPr/>
          <a:lstStyle/>
          <a:p>
            <a:endParaRPr lang="en-US"/>
          </a:p>
        </p:txBody>
      </p:sp>
      <p:sp>
        <p:nvSpPr>
          <p:cNvPr id="7" name="Shape 4"/>
          <p:cNvSpPr/>
          <p:nvPr/>
        </p:nvSpPr>
        <p:spPr>
          <a:xfrm>
            <a:off x="777240" y="1828800"/>
            <a:ext cx="548640" cy="548640"/>
          </a:xfrm>
          <a:prstGeom prst="ellipse">
            <a:avLst/>
          </a:prstGeom>
          <a:ln/>
        </p:spPr>
        <p:style>
          <a:lnRef idx="1">
            <a:schemeClr val="accent5"/>
          </a:lnRef>
          <a:fillRef idx="3">
            <a:schemeClr val="accent5"/>
          </a:fillRef>
          <a:effectRef idx="2">
            <a:schemeClr val="accent5"/>
          </a:effectRef>
          <a:fontRef idx="minor">
            <a:schemeClr val="lt1"/>
          </a:fontRef>
        </p:style>
        <p:txBody>
          <a:bodyPr/>
          <a:lstStyle/>
          <a:p>
            <a:endParaRPr lang="en-US"/>
          </a:p>
        </p:txBody>
      </p:sp>
      <p:pic>
        <p:nvPicPr>
          <p:cNvPr id="8" name="Image 1" descr="/home/claude/pptx/icons/check.png"/>
          <p:cNvPicPr>
            <a:picLocks noChangeAspect="1"/>
          </p:cNvPicPr>
          <p:nvPr/>
        </p:nvPicPr>
        <p:blipFill>
          <a:blip r:embed="rId3">
            <a:lum bright="70000" contrast="-70000"/>
          </a:blip>
          <a:stretch>
            <a:fillRect/>
          </a:stretch>
        </p:blipFill>
        <p:spPr>
          <a:xfrm>
            <a:off x="919886" y="1971446"/>
            <a:ext cx="263347" cy="263347"/>
          </a:xfrm>
          <a:prstGeom prst="rect">
            <a:avLst/>
          </a:prstGeom>
        </p:spPr>
      </p:pic>
      <p:sp>
        <p:nvSpPr>
          <p:cNvPr id="9" name="Text 5"/>
          <p:cNvSpPr/>
          <p:nvPr/>
        </p:nvSpPr>
        <p:spPr>
          <a:xfrm>
            <a:off x="1508760" y="1801368"/>
            <a:ext cx="4251960" cy="457200"/>
          </a:xfrm>
          <a:prstGeom prst="rect">
            <a:avLst/>
          </a:prstGeom>
          <a:noFill/>
          <a:ln/>
        </p:spPr>
        <p:txBody>
          <a:bodyPr wrap="square" rtlCol="0" anchor="ctr"/>
          <a:lstStyle/>
          <a:p>
            <a:pPr marL="0" indent="0">
              <a:buNone/>
            </a:pPr>
            <a:r>
              <a:rPr lang="en-US" sz="1550" b="1" dirty="0">
                <a:solidFill>
                  <a:srgbClr val="1E2761"/>
                </a:solidFill>
                <a:latin typeface="Calibri" pitchFamily="34" charset="0"/>
                <a:ea typeface="Calibri" pitchFamily="34" charset="-122"/>
                <a:cs typeface="Calibri" pitchFamily="34" charset="-120"/>
              </a:rPr>
              <a:t>Real and published</a:t>
            </a:r>
            <a:endParaRPr lang="en-US" sz="1550" dirty="0"/>
          </a:p>
        </p:txBody>
      </p:sp>
      <p:sp>
        <p:nvSpPr>
          <p:cNvPr id="10" name="Text 6"/>
          <p:cNvSpPr/>
          <p:nvPr/>
        </p:nvSpPr>
        <p:spPr>
          <a:xfrm>
            <a:off x="868680" y="2468880"/>
            <a:ext cx="4800600" cy="914400"/>
          </a:xfrm>
          <a:prstGeom prst="rect">
            <a:avLst/>
          </a:prstGeom>
          <a:noFill/>
          <a:ln/>
        </p:spPr>
        <p:txBody>
          <a:bodyPr wrap="square" rtlCol="0" anchor="ctr"/>
          <a:lstStyle/>
          <a:p>
            <a:pPr marL="0" indent="0">
              <a:lnSpc>
                <a:spcPts val="1600"/>
              </a:lnSpc>
              <a:buNone/>
            </a:pPr>
            <a:r>
              <a:rPr lang="en-US" sz="1200" dirty="0">
                <a:solidFill>
                  <a:srgbClr val="1A1A2E"/>
                </a:solidFill>
                <a:latin typeface="Calibri" pitchFamily="34" charset="0"/>
                <a:ea typeface="Calibri" pitchFamily="34" charset="-122"/>
                <a:cs typeface="Calibri" pitchFamily="34" charset="-120"/>
              </a:rPr>
              <a:t>Made for bankruptcy prediction and used in a published research paper (Liang et al., 2016). It is not made-up data.</a:t>
            </a:r>
            <a:endParaRPr lang="en-US" sz="1200" dirty="0"/>
          </a:p>
        </p:txBody>
      </p:sp>
      <p:sp>
        <p:nvSpPr>
          <p:cNvPr id="11" name="Shape 7"/>
          <p:cNvSpPr/>
          <p:nvPr/>
        </p:nvSpPr>
        <p:spPr>
          <a:xfrm>
            <a:off x="6309360" y="1600200"/>
            <a:ext cx="5440680" cy="1874520"/>
          </a:xfrm>
          <a:prstGeom prst="roundRect">
            <a:avLst>
              <a:gd name="adj" fmla="val 3902"/>
            </a:avLst>
          </a:prstGeom>
          <a:solidFill>
            <a:srgbClr val="EEF3FC"/>
          </a:solidFill>
          <a:ln/>
        </p:spPr>
        <p:txBody>
          <a:bodyPr/>
          <a:lstStyle/>
          <a:p>
            <a:endParaRPr lang="en-US"/>
          </a:p>
        </p:txBody>
      </p:sp>
      <p:sp>
        <p:nvSpPr>
          <p:cNvPr id="12" name="Shape 8"/>
          <p:cNvSpPr/>
          <p:nvPr/>
        </p:nvSpPr>
        <p:spPr>
          <a:xfrm>
            <a:off x="6537960" y="1828800"/>
            <a:ext cx="548640" cy="548640"/>
          </a:xfrm>
          <a:prstGeom prst="ellipse">
            <a:avLst/>
          </a:prstGeom>
          <a:ln/>
        </p:spPr>
        <p:style>
          <a:lnRef idx="1">
            <a:schemeClr val="accent5"/>
          </a:lnRef>
          <a:fillRef idx="3">
            <a:schemeClr val="accent5"/>
          </a:fillRef>
          <a:effectRef idx="2">
            <a:schemeClr val="accent5"/>
          </a:effectRef>
          <a:fontRef idx="minor">
            <a:schemeClr val="lt1"/>
          </a:fontRef>
        </p:style>
        <p:txBody>
          <a:bodyPr/>
          <a:lstStyle/>
          <a:p>
            <a:endParaRPr lang="en-US"/>
          </a:p>
        </p:txBody>
      </p:sp>
      <p:pic>
        <p:nvPicPr>
          <p:cNvPr id="13" name="Image 2" descr="/home/claude/pptx/icons/check.png"/>
          <p:cNvPicPr>
            <a:picLocks noChangeAspect="1"/>
          </p:cNvPicPr>
          <p:nvPr/>
        </p:nvPicPr>
        <p:blipFill>
          <a:blip r:embed="rId3">
            <a:lum bright="70000" contrast="-70000"/>
          </a:blip>
          <a:stretch>
            <a:fillRect/>
          </a:stretch>
        </p:blipFill>
        <p:spPr>
          <a:xfrm>
            <a:off x="6680606" y="1971446"/>
            <a:ext cx="263347" cy="263347"/>
          </a:xfrm>
          <a:prstGeom prst="rect">
            <a:avLst/>
          </a:prstGeom>
        </p:spPr>
      </p:pic>
      <p:sp>
        <p:nvSpPr>
          <p:cNvPr id="14" name="Text 9"/>
          <p:cNvSpPr/>
          <p:nvPr/>
        </p:nvSpPr>
        <p:spPr>
          <a:xfrm>
            <a:off x="7269480" y="1801368"/>
            <a:ext cx="4251960" cy="457200"/>
          </a:xfrm>
          <a:prstGeom prst="rect">
            <a:avLst/>
          </a:prstGeom>
          <a:noFill/>
          <a:ln/>
        </p:spPr>
        <p:txBody>
          <a:bodyPr wrap="square" rtlCol="0" anchor="ctr"/>
          <a:lstStyle/>
          <a:p>
            <a:pPr marL="0" indent="0">
              <a:buNone/>
            </a:pPr>
            <a:r>
              <a:rPr lang="en-US" sz="1550" b="1" dirty="0">
                <a:solidFill>
                  <a:srgbClr val="1E2761"/>
                </a:solidFill>
                <a:latin typeface="Calibri" pitchFamily="34" charset="0"/>
                <a:ea typeface="Calibri" pitchFamily="34" charset="-122"/>
                <a:cs typeface="Calibri" pitchFamily="34" charset="-120"/>
              </a:rPr>
              <a:t>Fully numeric</a:t>
            </a:r>
            <a:endParaRPr lang="en-US" sz="1550" dirty="0"/>
          </a:p>
        </p:txBody>
      </p:sp>
      <p:sp>
        <p:nvSpPr>
          <p:cNvPr id="15" name="Text 10"/>
          <p:cNvSpPr/>
          <p:nvPr/>
        </p:nvSpPr>
        <p:spPr>
          <a:xfrm>
            <a:off x="6629400" y="2468880"/>
            <a:ext cx="4800600" cy="914400"/>
          </a:xfrm>
          <a:prstGeom prst="rect">
            <a:avLst/>
          </a:prstGeom>
          <a:noFill/>
          <a:ln/>
        </p:spPr>
        <p:txBody>
          <a:bodyPr wrap="square" rtlCol="0" anchor="ctr"/>
          <a:lstStyle/>
          <a:p>
            <a:pPr marL="0" indent="0">
              <a:lnSpc>
                <a:spcPts val="1600"/>
              </a:lnSpc>
              <a:buNone/>
            </a:pPr>
            <a:r>
              <a:rPr lang="en-US" sz="1200" dirty="0">
                <a:solidFill>
                  <a:srgbClr val="1A1A2E"/>
                </a:solidFill>
                <a:latin typeface="Calibri" pitchFamily="34" charset="0"/>
                <a:ea typeface="Calibri" pitchFamily="34" charset="-122"/>
                <a:cs typeface="Calibri" pitchFamily="34" charset="-120"/>
              </a:rPr>
              <a:t>All 95 features are numbers (financial ratios), so most ML models can use them directly. No text columns to convert.</a:t>
            </a:r>
            <a:endParaRPr lang="en-US" sz="1200" dirty="0"/>
          </a:p>
        </p:txBody>
      </p:sp>
      <p:sp>
        <p:nvSpPr>
          <p:cNvPr id="16" name="Shape 11"/>
          <p:cNvSpPr/>
          <p:nvPr/>
        </p:nvSpPr>
        <p:spPr>
          <a:xfrm>
            <a:off x="548640" y="3749040"/>
            <a:ext cx="5440680" cy="1874520"/>
          </a:xfrm>
          <a:prstGeom prst="roundRect">
            <a:avLst>
              <a:gd name="adj" fmla="val 3902"/>
            </a:avLst>
          </a:prstGeom>
          <a:solidFill>
            <a:srgbClr val="EEF3FC"/>
          </a:solidFill>
          <a:ln/>
        </p:spPr>
        <p:txBody>
          <a:bodyPr/>
          <a:lstStyle/>
          <a:p>
            <a:endParaRPr lang="en-US"/>
          </a:p>
        </p:txBody>
      </p:sp>
      <p:sp>
        <p:nvSpPr>
          <p:cNvPr id="17" name="Shape 12"/>
          <p:cNvSpPr/>
          <p:nvPr/>
        </p:nvSpPr>
        <p:spPr>
          <a:xfrm>
            <a:off x="777240" y="3977640"/>
            <a:ext cx="548640" cy="548640"/>
          </a:xfrm>
          <a:prstGeom prst="ellipse">
            <a:avLst/>
          </a:prstGeom>
          <a:ln/>
        </p:spPr>
        <p:style>
          <a:lnRef idx="1">
            <a:schemeClr val="accent5"/>
          </a:lnRef>
          <a:fillRef idx="3">
            <a:schemeClr val="accent5"/>
          </a:fillRef>
          <a:effectRef idx="2">
            <a:schemeClr val="accent5"/>
          </a:effectRef>
          <a:fontRef idx="minor">
            <a:schemeClr val="lt1"/>
          </a:fontRef>
        </p:style>
        <p:txBody>
          <a:bodyPr/>
          <a:lstStyle/>
          <a:p>
            <a:endParaRPr lang="en-US"/>
          </a:p>
        </p:txBody>
      </p:sp>
      <p:pic>
        <p:nvPicPr>
          <p:cNvPr id="18" name="Image 3" descr="/home/claude/pptx/icons/check.png"/>
          <p:cNvPicPr>
            <a:picLocks noChangeAspect="1"/>
          </p:cNvPicPr>
          <p:nvPr/>
        </p:nvPicPr>
        <p:blipFill>
          <a:blip r:embed="rId3">
            <a:lum bright="70000" contrast="-70000"/>
          </a:blip>
          <a:stretch>
            <a:fillRect/>
          </a:stretch>
        </p:blipFill>
        <p:spPr>
          <a:xfrm>
            <a:off x="919886" y="4120286"/>
            <a:ext cx="263347" cy="263347"/>
          </a:xfrm>
          <a:prstGeom prst="rect">
            <a:avLst/>
          </a:prstGeom>
        </p:spPr>
      </p:pic>
      <p:sp>
        <p:nvSpPr>
          <p:cNvPr id="19" name="Text 13"/>
          <p:cNvSpPr/>
          <p:nvPr/>
        </p:nvSpPr>
        <p:spPr>
          <a:xfrm>
            <a:off x="1508760" y="3950208"/>
            <a:ext cx="4251960" cy="457200"/>
          </a:xfrm>
          <a:prstGeom prst="rect">
            <a:avLst/>
          </a:prstGeom>
          <a:noFill/>
          <a:ln/>
        </p:spPr>
        <p:txBody>
          <a:bodyPr wrap="square" rtlCol="0" anchor="ctr"/>
          <a:lstStyle/>
          <a:p>
            <a:pPr marL="0" indent="0">
              <a:buNone/>
            </a:pPr>
            <a:r>
              <a:rPr lang="en-US" sz="1550" b="1" dirty="0">
                <a:solidFill>
                  <a:srgbClr val="1E2761"/>
                </a:solidFill>
                <a:latin typeface="Calibri" pitchFamily="34" charset="0"/>
                <a:ea typeface="Calibri" pitchFamily="34" charset="-122"/>
                <a:cs typeface="Calibri" pitchFamily="34" charset="-120"/>
              </a:rPr>
              <a:t>Clean and complete</a:t>
            </a:r>
            <a:endParaRPr lang="en-US" sz="1550" dirty="0"/>
          </a:p>
        </p:txBody>
      </p:sp>
      <p:sp>
        <p:nvSpPr>
          <p:cNvPr id="20" name="Text 14"/>
          <p:cNvSpPr/>
          <p:nvPr/>
        </p:nvSpPr>
        <p:spPr>
          <a:xfrm>
            <a:off x="868680" y="4617720"/>
            <a:ext cx="4800600" cy="914400"/>
          </a:xfrm>
          <a:prstGeom prst="rect">
            <a:avLst/>
          </a:prstGeom>
          <a:noFill/>
          <a:ln/>
        </p:spPr>
        <p:txBody>
          <a:bodyPr wrap="square" rtlCol="0" anchor="ctr"/>
          <a:lstStyle/>
          <a:p>
            <a:pPr marL="0" indent="0">
              <a:lnSpc>
                <a:spcPts val="1600"/>
              </a:lnSpc>
              <a:buNone/>
            </a:pPr>
            <a:r>
              <a:rPr lang="en-US" sz="1200" dirty="0">
                <a:solidFill>
                  <a:srgbClr val="1A1A2E"/>
                </a:solidFill>
                <a:latin typeface="Calibri" pitchFamily="34" charset="0"/>
                <a:ea typeface="Calibri" pitchFamily="34" charset="-122"/>
                <a:cs typeface="Calibri" pitchFamily="34" charset="-120"/>
              </a:rPr>
              <a:t>No missing values and no duplicate rows (we checked all 6,819 × 96 cells). Only 1 column, Net Income Flag, is the same for every company, so we will drop it.</a:t>
            </a:r>
            <a:endParaRPr lang="en-US" sz="1200" dirty="0"/>
          </a:p>
        </p:txBody>
      </p:sp>
      <p:sp>
        <p:nvSpPr>
          <p:cNvPr id="21" name="Shape 15"/>
          <p:cNvSpPr/>
          <p:nvPr/>
        </p:nvSpPr>
        <p:spPr>
          <a:xfrm>
            <a:off x="6309360" y="3749040"/>
            <a:ext cx="5440680" cy="1874520"/>
          </a:xfrm>
          <a:prstGeom prst="roundRect">
            <a:avLst>
              <a:gd name="adj" fmla="val 3902"/>
            </a:avLst>
          </a:prstGeom>
          <a:solidFill>
            <a:srgbClr val="EEF3FC"/>
          </a:solidFill>
          <a:ln/>
        </p:spPr>
        <p:txBody>
          <a:bodyPr/>
          <a:lstStyle/>
          <a:p>
            <a:endParaRPr lang="en-US"/>
          </a:p>
        </p:txBody>
      </p:sp>
      <p:sp>
        <p:nvSpPr>
          <p:cNvPr id="22" name="Shape 16"/>
          <p:cNvSpPr/>
          <p:nvPr/>
        </p:nvSpPr>
        <p:spPr>
          <a:xfrm>
            <a:off x="6537960" y="3977640"/>
            <a:ext cx="548640" cy="548640"/>
          </a:xfrm>
          <a:prstGeom prst="ellipse">
            <a:avLst/>
          </a:prstGeom>
          <a:ln/>
        </p:spPr>
        <p:style>
          <a:lnRef idx="1">
            <a:schemeClr val="accent5"/>
          </a:lnRef>
          <a:fillRef idx="3">
            <a:schemeClr val="accent5"/>
          </a:fillRef>
          <a:effectRef idx="2">
            <a:schemeClr val="accent5"/>
          </a:effectRef>
          <a:fontRef idx="minor">
            <a:schemeClr val="lt1"/>
          </a:fontRef>
        </p:style>
        <p:txBody>
          <a:bodyPr/>
          <a:lstStyle/>
          <a:p>
            <a:endParaRPr lang="en-US"/>
          </a:p>
        </p:txBody>
      </p:sp>
      <p:pic>
        <p:nvPicPr>
          <p:cNvPr id="23" name="Image 4" descr="/home/claude/pptx/icons/check.png"/>
          <p:cNvPicPr>
            <a:picLocks noChangeAspect="1"/>
          </p:cNvPicPr>
          <p:nvPr/>
        </p:nvPicPr>
        <p:blipFill>
          <a:blip r:embed="rId3">
            <a:lum bright="70000" contrast="-70000"/>
          </a:blip>
          <a:stretch>
            <a:fillRect/>
          </a:stretch>
        </p:blipFill>
        <p:spPr>
          <a:xfrm>
            <a:off x="6680606" y="4120286"/>
            <a:ext cx="263347" cy="263347"/>
          </a:xfrm>
          <a:prstGeom prst="rect">
            <a:avLst/>
          </a:prstGeom>
        </p:spPr>
      </p:pic>
      <p:sp>
        <p:nvSpPr>
          <p:cNvPr id="24" name="Text 17"/>
          <p:cNvSpPr/>
          <p:nvPr/>
        </p:nvSpPr>
        <p:spPr>
          <a:xfrm>
            <a:off x="7269480" y="3950208"/>
            <a:ext cx="4251960" cy="457200"/>
          </a:xfrm>
          <a:prstGeom prst="rect">
            <a:avLst/>
          </a:prstGeom>
          <a:noFill/>
          <a:ln/>
        </p:spPr>
        <p:txBody>
          <a:bodyPr wrap="square" rtlCol="0" anchor="ctr"/>
          <a:lstStyle/>
          <a:p>
            <a:pPr marL="0" indent="0">
              <a:buNone/>
            </a:pPr>
            <a:r>
              <a:rPr lang="en-US" sz="1550" b="1" dirty="0">
                <a:solidFill>
                  <a:srgbClr val="1E2761"/>
                </a:solidFill>
                <a:latin typeface="Calibri" pitchFamily="34" charset="0"/>
                <a:ea typeface="Calibri" pitchFamily="34" charset="-122"/>
                <a:cs typeface="Calibri" pitchFamily="34" charset="-120"/>
              </a:rPr>
              <a:t>Good size</a:t>
            </a:r>
            <a:endParaRPr lang="en-US" sz="1550" dirty="0"/>
          </a:p>
        </p:txBody>
      </p:sp>
      <p:sp>
        <p:nvSpPr>
          <p:cNvPr id="25" name="Text 18"/>
          <p:cNvSpPr/>
          <p:nvPr/>
        </p:nvSpPr>
        <p:spPr>
          <a:xfrm>
            <a:off x="6629400" y="4617720"/>
            <a:ext cx="4800600" cy="914400"/>
          </a:xfrm>
          <a:prstGeom prst="rect">
            <a:avLst/>
          </a:prstGeom>
          <a:noFill/>
          <a:ln/>
        </p:spPr>
        <p:txBody>
          <a:bodyPr wrap="square" rtlCol="0" anchor="ctr"/>
          <a:lstStyle/>
          <a:p>
            <a:pPr marL="0" indent="0">
              <a:lnSpc>
                <a:spcPts val="1600"/>
              </a:lnSpc>
              <a:buNone/>
            </a:pPr>
            <a:r>
              <a:rPr lang="en-US" sz="1200" dirty="0">
                <a:solidFill>
                  <a:srgbClr val="1A1A2E"/>
                </a:solidFill>
                <a:latin typeface="Calibri" pitchFamily="34" charset="0"/>
                <a:ea typeface="Calibri" pitchFamily="34" charset="-122"/>
                <a:cs typeface="Calibri" pitchFamily="34" charset="-120"/>
              </a:rPr>
              <a:t>6,819 companies is enough for training and test sets and for cross-validation (testing on several different splits). But only 220 are bankrupt.</a:t>
            </a:r>
            <a:endParaRPr lang="en-US" sz="1200" dirty="0"/>
          </a:p>
        </p:txBody>
      </p:sp>
      <p:sp>
        <p:nvSpPr>
          <p:cNvPr id="26" name="Shape 19"/>
          <p:cNvSpPr/>
          <p:nvPr/>
        </p:nvSpPr>
        <p:spPr>
          <a:xfrm>
            <a:off x="548640" y="5806440"/>
            <a:ext cx="11064240" cy="685800"/>
          </a:xfrm>
          <a:prstGeom prst="roundRect">
            <a:avLst>
              <a:gd name="adj" fmla="val 10667"/>
            </a:avLst>
          </a:prstGeom>
          <a:solidFill>
            <a:srgbClr val="1E2761"/>
          </a:solidFill>
          <a:ln/>
        </p:spPr>
        <p:txBody>
          <a:bodyPr/>
          <a:lstStyle/>
          <a:p>
            <a:endParaRPr lang="en-US"/>
          </a:p>
        </p:txBody>
      </p:sp>
      <p:sp>
        <p:nvSpPr>
          <p:cNvPr id="27" name="Text 20"/>
          <p:cNvSpPr/>
          <p:nvPr/>
        </p:nvSpPr>
        <p:spPr>
          <a:xfrm>
            <a:off x="822960" y="5806440"/>
            <a:ext cx="10515600" cy="685800"/>
          </a:xfrm>
          <a:prstGeom prst="rect">
            <a:avLst/>
          </a:prstGeom>
          <a:noFill/>
          <a:ln/>
        </p:spPr>
        <p:txBody>
          <a:bodyPr wrap="square" rtlCol="0" anchor="ctr"/>
          <a:lstStyle/>
          <a:p>
            <a:pPr marL="0" indent="0">
              <a:buNone/>
            </a:pPr>
            <a:r>
              <a:rPr lang="en-US" sz="1250" b="1" dirty="0">
                <a:solidFill>
                  <a:srgbClr val="C9A227"/>
                </a:solidFill>
                <a:latin typeface="Calibri" pitchFamily="34" charset="0"/>
                <a:ea typeface="Calibri" pitchFamily="34" charset="-122"/>
                <a:cs typeface="Calibri" pitchFamily="34" charset="-120"/>
              </a:rPr>
              <a:t>Main limitation:  </a:t>
            </a:r>
            <a:r>
              <a:rPr lang="en-US" sz="1250" dirty="0">
                <a:solidFill>
                  <a:srgbClr val="FFFFFF"/>
                </a:solidFill>
                <a:latin typeface="Calibri" pitchFamily="34" charset="0"/>
                <a:ea typeface="Calibri" pitchFamily="34" charset="-122"/>
                <a:cs typeface="Calibri" pitchFamily="34" charset="-120"/>
              </a:rPr>
              <a:t>very few bankrupt companies (only 3.23%). We will use class weights or resampling, and judge models with recall and F1, not accuracy.</a:t>
            </a:r>
            <a:endParaRPr lang="en-US" sz="1250" dirty="0"/>
          </a:p>
        </p:txBody>
      </p:sp>
      <p:sp>
        <p:nvSpPr>
          <p:cNvPr id="28" name="Text 21"/>
          <p:cNvSpPr/>
          <p:nvPr/>
        </p:nvSpPr>
        <p:spPr>
          <a:xfrm>
            <a:off x="11503152" y="6473952"/>
            <a:ext cx="365760" cy="274320"/>
          </a:xfrm>
          <a:prstGeom prst="rect">
            <a:avLst/>
          </a:prstGeom>
          <a:noFill/>
          <a:ln/>
        </p:spPr>
        <p:txBody>
          <a:bodyPr wrap="square" rtlCol="0" anchor="ctr"/>
          <a:lstStyle/>
          <a:p>
            <a:pPr marL="0" indent="0" algn="r">
              <a:buNone/>
            </a:pPr>
            <a:r>
              <a:rPr lang="en-US" sz="900" dirty="0">
                <a:solidFill>
                  <a:srgbClr val="5B6472"/>
                </a:solidFill>
              </a:rPr>
              <a:t>6</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411480"/>
            <a:ext cx="8229600" cy="64008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Challenges We Anticipate</a:t>
            </a:r>
            <a:endParaRPr lang="en-US" sz="3200" dirty="0"/>
          </a:p>
        </p:txBody>
      </p:sp>
      <p:sp>
        <p:nvSpPr>
          <p:cNvPr id="3" name="Shape 1"/>
          <p:cNvSpPr/>
          <p:nvPr/>
        </p:nvSpPr>
        <p:spPr>
          <a:xfrm>
            <a:off x="10607040" y="411480"/>
            <a:ext cx="822960" cy="82296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a:lstStyle/>
          <a:p>
            <a:endParaRPr lang="en-US"/>
          </a:p>
        </p:txBody>
      </p:sp>
      <p:pic>
        <p:nvPicPr>
          <p:cNvPr id="4" name="Image 0" descr="/home/claude/pptx/icons/alert.png"/>
          <p:cNvPicPr>
            <a:picLocks noChangeAspect="1"/>
          </p:cNvPicPr>
          <p:nvPr/>
        </p:nvPicPr>
        <p:blipFill>
          <a:blip r:embed="rId3"/>
          <a:stretch>
            <a:fillRect/>
          </a:stretch>
        </p:blipFill>
        <p:spPr>
          <a:xfrm>
            <a:off x="10821010" y="625450"/>
            <a:ext cx="395021" cy="395021"/>
          </a:xfrm>
          <a:prstGeom prst="rect">
            <a:avLst/>
          </a:prstGeom>
        </p:spPr>
      </p:pic>
      <p:sp>
        <p:nvSpPr>
          <p:cNvPr id="5" name="Shape 2"/>
          <p:cNvSpPr/>
          <p:nvPr/>
        </p:nvSpPr>
        <p:spPr>
          <a:xfrm>
            <a:off x="548640" y="1371600"/>
            <a:ext cx="11064240" cy="914400"/>
          </a:xfrm>
          <a:prstGeom prst="roundRect">
            <a:avLst>
              <a:gd name="adj" fmla="val 7000"/>
            </a:avLst>
          </a:prstGeom>
          <a:solidFill>
            <a:srgbClr val="EEF3FC"/>
          </a:solidFill>
          <a:ln/>
        </p:spPr>
        <p:txBody>
          <a:bodyPr/>
          <a:lstStyle/>
          <a:p>
            <a:endParaRPr lang="en-US"/>
          </a:p>
        </p:txBody>
      </p:sp>
      <p:sp>
        <p:nvSpPr>
          <p:cNvPr id="6" name="Shape 3"/>
          <p:cNvSpPr/>
          <p:nvPr/>
        </p:nvSpPr>
        <p:spPr>
          <a:xfrm>
            <a:off x="777240" y="1536192"/>
            <a:ext cx="585216" cy="585216"/>
          </a:xfrm>
          <a:prstGeom prst="ellipse">
            <a:avLst/>
          </a:prstGeom>
          <a:ln/>
        </p:spPr>
        <p:style>
          <a:lnRef idx="0">
            <a:schemeClr val="accent2"/>
          </a:lnRef>
          <a:fillRef idx="3">
            <a:schemeClr val="accent2"/>
          </a:fillRef>
          <a:effectRef idx="3">
            <a:schemeClr val="accent2"/>
          </a:effectRef>
          <a:fontRef idx="minor">
            <a:schemeClr val="lt1"/>
          </a:fontRef>
        </p:style>
        <p:txBody>
          <a:bodyPr/>
          <a:lstStyle/>
          <a:p>
            <a:endParaRPr lang="en-US"/>
          </a:p>
        </p:txBody>
      </p:sp>
      <p:pic>
        <p:nvPicPr>
          <p:cNvPr id="7" name="Image 1" descr="/home/claude/pptx/icons/alert.png"/>
          <p:cNvPicPr>
            <a:picLocks noChangeAspect="1"/>
          </p:cNvPicPr>
          <p:nvPr/>
        </p:nvPicPr>
        <p:blipFill>
          <a:blip r:embed="rId3"/>
          <a:stretch>
            <a:fillRect/>
          </a:stretch>
        </p:blipFill>
        <p:spPr>
          <a:xfrm>
            <a:off x="929396" y="1688348"/>
            <a:ext cx="280904" cy="280904"/>
          </a:xfrm>
          <a:prstGeom prst="rect">
            <a:avLst/>
          </a:prstGeom>
        </p:spPr>
      </p:pic>
      <p:sp>
        <p:nvSpPr>
          <p:cNvPr id="8" name="Text 4"/>
          <p:cNvSpPr/>
          <p:nvPr/>
        </p:nvSpPr>
        <p:spPr>
          <a:xfrm>
            <a:off x="1600200" y="1463040"/>
            <a:ext cx="2743200" cy="731520"/>
          </a:xfrm>
          <a:prstGeom prst="rect">
            <a:avLst/>
          </a:prstGeom>
          <a:noFill/>
          <a:ln/>
        </p:spPr>
        <p:txBody>
          <a:bodyPr wrap="square" rtlCol="0" anchor="ctr"/>
          <a:lstStyle/>
          <a:p>
            <a:pPr marL="0" indent="0">
              <a:lnSpc>
                <a:spcPts val="1500"/>
              </a:lnSpc>
              <a:buNone/>
            </a:pPr>
            <a:r>
              <a:rPr lang="en-US" sz="1400" b="1" dirty="0">
                <a:solidFill>
                  <a:srgbClr val="1E2761"/>
                </a:solidFill>
                <a:latin typeface="Calibri" pitchFamily="34" charset="0"/>
                <a:ea typeface="Calibri" pitchFamily="34" charset="-122"/>
                <a:cs typeface="Calibri" pitchFamily="34" charset="-120"/>
              </a:rPr>
              <a:t>Class imbalance</a:t>
            </a:r>
            <a:endParaRPr lang="en-US" sz="1400" dirty="0"/>
          </a:p>
        </p:txBody>
      </p:sp>
      <p:sp>
        <p:nvSpPr>
          <p:cNvPr id="9" name="Text 5"/>
          <p:cNvSpPr/>
          <p:nvPr/>
        </p:nvSpPr>
        <p:spPr>
          <a:xfrm>
            <a:off x="4480560" y="1463040"/>
            <a:ext cx="6949440" cy="731520"/>
          </a:xfrm>
          <a:prstGeom prst="rect">
            <a:avLst/>
          </a:prstGeom>
          <a:noFill/>
          <a:ln/>
        </p:spPr>
        <p:txBody>
          <a:bodyPr wrap="square" rtlCol="0" anchor="ctr"/>
          <a:lstStyle/>
          <a:p>
            <a:pPr marL="0" indent="0">
              <a:lnSpc>
                <a:spcPts val="1500"/>
              </a:lnSpc>
              <a:buNone/>
            </a:pPr>
            <a:r>
              <a:rPr lang="en-US" sz="1200" dirty="0">
                <a:solidFill>
                  <a:srgbClr val="1A1A2E"/>
                </a:solidFill>
                <a:latin typeface="Calibri" pitchFamily="34" charset="0"/>
                <a:ea typeface="Calibri" pitchFamily="34" charset="-122"/>
                <a:cs typeface="Calibri" pitchFamily="34" charset="-120"/>
              </a:rPr>
              <a:t>Only 3.23% of companies are bankrupt. A model that always says “not bankrupt” is 96.77% correct but finds no bankruptcies.</a:t>
            </a:r>
            <a:endParaRPr lang="en-US" sz="1200" dirty="0"/>
          </a:p>
          <a:p>
            <a:pPr marL="0" indent="0">
              <a:lnSpc>
                <a:spcPts val="1500"/>
              </a:lnSpc>
              <a:spcBef>
                <a:spcPts val="300"/>
              </a:spcBef>
              <a:buNone/>
            </a:pPr>
            <a:r>
              <a:rPr lang="en-US" sz="1200" dirty="0" b="1">
                <a:solidFill>
                  <a:srgbClr val="1E2761"/>
                </a:solidFill>
                <a:latin typeface="Calibri" pitchFamily="34" charset="0"/>
                <a:ea typeface="Calibri" pitchFamily="34" charset="-122"/>
                <a:cs typeface="Calibri" pitchFamily="34" charset="-120"/>
              </a:rPr>
              <a:t>Our plan:  </a:t>
            </a:r>
            <a:r>
              <a:rPr lang="en-US" sz="1200" dirty="0" b="0">
                <a:solidFill>
                  <a:srgbClr val="1A1A2E"/>
                </a:solidFill>
                <a:latin typeface="Calibri" pitchFamily="34" charset="0"/>
                <a:ea typeface="Calibri" pitchFamily="34" charset="-122"/>
                <a:cs typeface="Calibri" pitchFamily="34" charset="-120"/>
              </a:rPr>
              <a:t>class weights or resampling, and judge models with recall and F1.</a:t>
            </a:r>
            <a:endParaRPr lang="en-US" sz="1200" dirty="0"/>
          </a:p>
        </p:txBody>
      </p:sp>
      <p:sp>
        <p:nvSpPr>
          <p:cNvPr id="10" name="Shape 6"/>
          <p:cNvSpPr/>
          <p:nvPr/>
        </p:nvSpPr>
        <p:spPr>
          <a:xfrm>
            <a:off x="548640" y="2359152"/>
            <a:ext cx="11064240" cy="914400"/>
          </a:xfrm>
          <a:prstGeom prst="roundRect">
            <a:avLst>
              <a:gd name="adj" fmla="val 7000"/>
            </a:avLst>
          </a:prstGeom>
          <a:solidFill>
            <a:srgbClr val="FFFFFF"/>
          </a:solidFill>
          <a:ln/>
        </p:spPr>
        <p:txBody>
          <a:bodyPr/>
          <a:lstStyle/>
          <a:p>
            <a:endParaRPr lang="en-US"/>
          </a:p>
        </p:txBody>
      </p:sp>
      <p:sp>
        <p:nvSpPr>
          <p:cNvPr id="11" name="Shape 7"/>
          <p:cNvSpPr/>
          <p:nvPr/>
        </p:nvSpPr>
        <p:spPr>
          <a:xfrm>
            <a:off x="777240" y="2523744"/>
            <a:ext cx="585216" cy="585216"/>
          </a:xfrm>
          <a:prstGeom prst="ellipse">
            <a:avLst/>
          </a:prstGeom>
          <a:ln/>
        </p:spPr>
        <p:style>
          <a:lnRef idx="0">
            <a:schemeClr val="accent2"/>
          </a:lnRef>
          <a:fillRef idx="3">
            <a:schemeClr val="accent2"/>
          </a:fillRef>
          <a:effectRef idx="3">
            <a:schemeClr val="accent2"/>
          </a:effectRef>
          <a:fontRef idx="minor">
            <a:schemeClr val="lt1"/>
          </a:fontRef>
        </p:style>
        <p:txBody>
          <a:bodyPr/>
          <a:lstStyle/>
          <a:p>
            <a:endParaRPr lang="en-US"/>
          </a:p>
        </p:txBody>
      </p:sp>
      <p:pic>
        <p:nvPicPr>
          <p:cNvPr id="12" name="Image 2" descr="/home/claude/pptx/icons/alert.png"/>
          <p:cNvPicPr>
            <a:picLocks noChangeAspect="1"/>
          </p:cNvPicPr>
          <p:nvPr/>
        </p:nvPicPr>
        <p:blipFill>
          <a:blip r:embed="rId3"/>
          <a:stretch>
            <a:fillRect/>
          </a:stretch>
        </p:blipFill>
        <p:spPr>
          <a:xfrm>
            <a:off x="929396" y="2675900"/>
            <a:ext cx="280904" cy="280904"/>
          </a:xfrm>
          <a:prstGeom prst="rect">
            <a:avLst/>
          </a:prstGeom>
        </p:spPr>
      </p:pic>
      <p:sp>
        <p:nvSpPr>
          <p:cNvPr id="13" name="Text 8"/>
          <p:cNvSpPr/>
          <p:nvPr/>
        </p:nvSpPr>
        <p:spPr>
          <a:xfrm>
            <a:off x="1600200" y="2450592"/>
            <a:ext cx="2743200" cy="731520"/>
          </a:xfrm>
          <a:prstGeom prst="rect">
            <a:avLst/>
          </a:prstGeom>
          <a:noFill/>
          <a:ln/>
        </p:spPr>
        <p:txBody>
          <a:bodyPr wrap="square" rtlCol="0" anchor="ctr"/>
          <a:lstStyle/>
          <a:p>
            <a:pPr marL="0" indent="0">
              <a:lnSpc>
                <a:spcPts val="1500"/>
              </a:lnSpc>
              <a:buNone/>
            </a:pPr>
            <a:r>
              <a:rPr lang="en-US" sz="1400" b="1" dirty="0">
                <a:solidFill>
                  <a:srgbClr val="1E2761"/>
                </a:solidFill>
                <a:latin typeface="Calibri" pitchFamily="34" charset="0"/>
                <a:ea typeface="Calibri" pitchFamily="34" charset="-122"/>
                <a:cs typeface="Calibri" pitchFamily="34" charset="-120"/>
              </a:rPr>
              <a:t>Many similar ratios</a:t>
            </a:r>
            <a:endParaRPr lang="en-US" sz="1400" dirty="0"/>
          </a:p>
        </p:txBody>
      </p:sp>
      <p:sp>
        <p:nvSpPr>
          <p:cNvPr id="14" name="Text 9"/>
          <p:cNvSpPr/>
          <p:nvPr/>
        </p:nvSpPr>
        <p:spPr>
          <a:xfrm>
            <a:off x="4480560" y="2450592"/>
            <a:ext cx="6949440" cy="731520"/>
          </a:xfrm>
          <a:prstGeom prst="rect">
            <a:avLst/>
          </a:prstGeom>
          <a:noFill/>
          <a:ln/>
        </p:spPr>
        <p:txBody>
          <a:bodyPr wrap="square" rtlCol="0" anchor="ctr"/>
          <a:lstStyle/>
          <a:p>
            <a:pPr marL="0" indent="0">
              <a:lnSpc>
                <a:spcPts val="1500"/>
              </a:lnSpc>
              <a:buNone/>
            </a:pPr>
            <a:r>
              <a:rPr lang="en-US" sz="1200" dirty="0">
                <a:solidFill>
                  <a:srgbClr val="1A1A2E"/>
                </a:solidFill>
                <a:latin typeface="Calibri" pitchFamily="34" charset="0"/>
                <a:ea typeface="Calibri" pitchFamily="34" charset="-122"/>
                <a:cs typeface="Calibri" pitchFamily="34" charset="-120"/>
              </a:rPr>
              <a:t>Many of the 95 ratios say almost the same thing (for example, several ROA versions). This can confuse some models.</a:t>
            </a:r>
            <a:endParaRPr lang="en-US" sz="1200" dirty="0"/>
          </a:p>
          <a:p>
            <a:pPr marL="0" indent="0">
              <a:lnSpc>
                <a:spcPts val="1500"/>
              </a:lnSpc>
              <a:spcBef>
                <a:spcPts val="300"/>
              </a:spcBef>
              <a:buNone/>
            </a:pPr>
            <a:r>
              <a:rPr lang="en-US" sz="1200" dirty="0" b="1">
                <a:solidFill>
                  <a:srgbClr val="1E2761"/>
                </a:solidFill>
                <a:latin typeface="Calibri" pitchFamily="34" charset="0"/>
                <a:ea typeface="Calibri" pitchFamily="34" charset="-122"/>
                <a:cs typeface="Calibri" pitchFamily="34" charset="-120"/>
              </a:rPr>
              <a:t>Our plan:  </a:t>
            </a:r>
            <a:r>
              <a:rPr lang="en-US" sz="1200" dirty="0" b="0">
                <a:solidFill>
                  <a:srgbClr val="1A1A2E"/>
                </a:solidFill>
                <a:latin typeface="Calibri" pitchFamily="34" charset="0"/>
                <a:ea typeface="Calibri" pitchFamily="34" charset="-122"/>
                <a:cs typeface="Calibri" pitchFamily="34" charset="-120"/>
              </a:rPr>
              <a:t>check correlations and remove very similar ratios.</a:t>
            </a:r>
            <a:endParaRPr lang="en-US" sz="1200" dirty="0"/>
          </a:p>
        </p:txBody>
      </p:sp>
      <p:sp>
        <p:nvSpPr>
          <p:cNvPr id="15" name="Shape 10"/>
          <p:cNvSpPr/>
          <p:nvPr/>
        </p:nvSpPr>
        <p:spPr>
          <a:xfrm>
            <a:off x="548640" y="3346704"/>
            <a:ext cx="11064240" cy="914400"/>
          </a:xfrm>
          <a:prstGeom prst="roundRect">
            <a:avLst>
              <a:gd name="adj" fmla="val 7000"/>
            </a:avLst>
          </a:prstGeom>
          <a:solidFill>
            <a:srgbClr val="EEF3FC"/>
          </a:solidFill>
          <a:ln/>
        </p:spPr>
        <p:txBody>
          <a:bodyPr/>
          <a:lstStyle/>
          <a:p>
            <a:endParaRPr lang="en-US"/>
          </a:p>
        </p:txBody>
      </p:sp>
      <p:sp>
        <p:nvSpPr>
          <p:cNvPr id="16" name="Shape 11"/>
          <p:cNvSpPr/>
          <p:nvPr/>
        </p:nvSpPr>
        <p:spPr>
          <a:xfrm>
            <a:off x="777240" y="3511296"/>
            <a:ext cx="585216" cy="585216"/>
          </a:xfrm>
          <a:prstGeom prst="ellipse">
            <a:avLst/>
          </a:prstGeom>
          <a:ln/>
        </p:spPr>
        <p:style>
          <a:lnRef idx="0">
            <a:schemeClr val="accent2"/>
          </a:lnRef>
          <a:fillRef idx="3">
            <a:schemeClr val="accent2"/>
          </a:fillRef>
          <a:effectRef idx="3">
            <a:schemeClr val="accent2"/>
          </a:effectRef>
          <a:fontRef idx="minor">
            <a:schemeClr val="lt1"/>
          </a:fontRef>
        </p:style>
        <p:txBody>
          <a:bodyPr/>
          <a:lstStyle/>
          <a:p>
            <a:endParaRPr lang="en-US"/>
          </a:p>
        </p:txBody>
      </p:sp>
      <p:pic>
        <p:nvPicPr>
          <p:cNvPr id="17" name="Image 3" descr="/home/claude/pptx/icons/alert.png"/>
          <p:cNvPicPr>
            <a:picLocks noChangeAspect="1"/>
          </p:cNvPicPr>
          <p:nvPr/>
        </p:nvPicPr>
        <p:blipFill>
          <a:blip r:embed="rId3"/>
          <a:stretch>
            <a:fillRect/>
          </a:stretch>
        </p:blipFill>
        <p:spPr>
          <a:xfrm>
            <a:off x="929396" y="3663452"/>
            <a:ext cx="280904" cy="280904"/>
          </a:xfrm>
          <a:prstGeom prst="rect">
            <a:avLst/>
          </a:prstGeom>
        </p:spPr>
      </p:pic>
      <p:sp>
        <p:nvSpPr>
          <p:cNvPr id="18" name="Text 12"/>
          <p:cNvSpPr/>
          <p:nvPr/>
        </p:nvSpPr>
        <p:spPr>
          <a:xfrm>
            <a:off x="1600200" y="3438144"/>
            <a:ext cx="2743200" cy="731520"/>
          </a:xfrm>
          <a:prstGeom prst="rect">
            <a:avLst/>
          </a:prstGeom>
          <a:noFill/>
          <a:ln/>
        </p:spPr>
        <p:txBody>
          <a:bodyPr wrap="square" rtlCol="0" anchor="ctr"/>
          <a:lstStyle/>
          <a:p>
            <a:pPr marL="0" indent="0">
              <a:lnSpc>
                <a:spcPts val="1500"/>
              </a:lnSpc>
              <a:buNone/>
            </a:pPr>
            <a:r>
              <a:rPr lang="en-US" sz="1400" b="1" dirty="0">
                <a:solidFill>
                  <a:srgbClr val="1E2761"/>
                </a:solidFill>
                <a:latin typeface="Calibri" pitchFamily="34" charset="0"/>
                <a:ea typeface="Calibri" pitchFamily="34" charset="-122"/>
                <a:cs typeface="Calibri" pitchFamily="34" charset="-120"/>
              </a:rPr>
              <a:t>Extreme values</a:t>
            </a:r>
            <a:endParaRPr lang="en-US" sz="1400" dirty="0"/>
          </a:p>
        </p:txBody>
      </p:sp>
      <p:sp>
        <p:nvSpPr>
          <p:cNvPr id="19" name="Text 13"/>
          <p:cNvSpPr/>
          <p:nvPr/>
        </p:nvSpPr>
        <p:spPr>
          <a:xfrm>
            <a:off x="4480560" y="3438144"/>
            <a:ext cx="6949440" cy="731520"/>
          </a:xfrm>
          <a:prstGeom prst="rect">
            <a:avLst/>
          </a:prstGeom>
          <a:noFill/>
          <a:ln/>
        </p:spPr>
        <p:txBody>
          <a:bodyPr wrap="square" rtlCol="0" anchor="ctr"/>
          <a:lstStyle/>
          <a:p>
            <a:pPr marL="0" indent="0">
              <a:lnSpc>
                <a:spcPts val="1500"/>
              </a:lnSpc>
              <a:buNone/>
            </a:pPr>
            <a:r>
              <a:rPr lang="en-US" sz="1200" dirty="0">
                <a:solidFill>
                  <a:srgbClr val="1A1A2E"/>
                </a:solidFill>
                <a:latin typeface="Calibri" pitchFamily="34" charset="0"/>
                <a:ea typeface="Calibri" pitchFamily="34" charset="-122"/>
                <a:cs typeface="Calibri" pitchFamily="34" charset="-120"/>
              </a:rPr>
              <a:t>Most ratios are between 0 and 1, but a few (like Operating Expense Rate) reach billions.</a:t>
            </a:r>
            <a:endParaRPr lang="en-US" sz="1200" dirty="0"/>
          </a:p>
          <a:p>
            <a:pPr marL="0" indent="0">
              <a:lnSpc>
                <a:spcPts val="1500"/>
              </a:lnSpc>
              <a:spcBef>
                <a:spcPts val="300"/>
              </a:spcBef>
              <a:buNone/>
            </a:pPr>
            <a:r>
              <a:rPr lang="en-US" sz="1200" dirty="0" b="1">
                <a:solidFill>
                  <a:srgbClr val="1E2761"/>
                </a:solidFill>
                <a:latin typeface="Calibri" pitchFamily="34" charset="0"/>
                <a:ea typeface="Calibri" pitchFamily="34" charset="-122"/>
                <a:cs typeface="Calibri" pitchFamily="34" charset="-120"/>
              </a:rPr>
              <a:t>Our plan:  </a:t>
            </a:r>
            <a:r>
              <a:rPr lang="en-US" sz="1200" dirty="0" b="0">
                <a:solidFill>
                  <a:srgbClr val="1A1A2E"/>
                </a:solidFill>
                <a:latin typeface="Calibri" pitchFamily="34" charset="0"/>
                <a:ea typeface="Calibri" pitchFamily="34" charset="-122"/>
                <a:cs typeface="Calibri" pitchFamily="34" charset="-120"/>
              </a:rPr>
              <a:t>treat extreme values and scale all ratios to the same range.</a:t>
            </a:r>
            <a:endParaRPr lang="en-US" sz="1200" dirty="0"/>
          </a:p>
        </p:txBody>
      </p:sp>
      <p:sp>
        <p:nvSpPr>
          <p:cNvPr id="20" name="Shape 14"/>
          <p:cNvSpPr/>
          <p:nvPr/>
        </p:nvSpPr>
        <p:spPr>
          <a:xfrm>
            <a:off x="548640" y="4334256"/>
            <a:ext cx="11064240" cy="914400"/>
          </a:xfrm>
          <a:prstGeom prst="roundRect">
            <a:avLst>
              <a:gd name="adj" fmla="val 7000"/>
            </a:avLst>
          </a:prstGeom>
          <a:solidFill>
            <a:srgbClr val="FFFFFF"/>
          </a:solidFill>
          <a:ln/>
        </p:spPr>
        <p:txBody>
          <a:bodyPr/>
          <a:lstStyle/>
          <a:p>
            <a:endParaRPr lang="en-US"/>
          </a:p>
        </p:txBody>
      </p:sp>
      <p:sp>
        <p:nvSpPr>
          <p:cNvPr id="21" name="Shape 15"/>
          <p:cNvSpPr/>
          <p:nvPr/>
        </p:nvSpPr>
        <p:spPr>
          <a:xfrm>
            <a:off x="777240" y="4498848"/>
            <a:ext cx="585216" cy="585216"/>
          </a:xfrm>
          <a:prstGeom prst="ellipse">
            <a:avLst/>
          </a:prstGeom>
          <a:ln/>
        </p:spPr>
        <p:style>
          <a:lnRef idx="0">
            <a:schemeClr val="accent2"/>
          </a:lnRef>
          <a:fillRef idx="3">
            <a:schemeClr val="accent2"/>
          </a:fillRef>
          <a:effectRef idx="3">
            <a:schemeClr val="accent2"/>
          </a:effectRef>
          <a:fontRef idx="minor">
            <a:schemeClr val="lt1"/>
          </a:fontRef>
        </p:style>
        <p:txBody>
          <a:bodyPr/>
          <a:lstStyle/>
          <a:p>
            <a:endParaRPr lang="en-US"/>
          </a:p>
        </p:txBody>
      </p:sp>
      <p:pic>
        <p:nvPicPr>
          <p:cNvPr id="22" name="Image 4" descr="/home/claude/pptx/icons/alert.png"/>
          <p:cNvPicPr>
            <a:picLocks noChangeAspect="1"/>
          </p:cNvPicPr>
          <p:nvPr/>
        </p:nvPicPr>
        <p:blipFill>
          <a:blip r:embed="rId3"/>
          <a:stretch>
            <a:fillRect/>
          </a:stretch>
        </p:blipFill>
        <p:spPr>
          <a:xfrm>
            <a:off x="929396" y="4651004"/>
            <a:ext cx="280904" cy="280904"/>
          </a:xfrm>
          <a:prstGeom prst="rect">
            <a:avLst/>
          </a:prstGeom>
        </p:spPr>
      </p:pic>
      <p:sp>
        <p:nvSpPr>
          <p:cNvPr id="23" name="Text 16"/>
          <p:cNvSpPr/>
          <p:nvPr/>
        </p:nvSpPr>
        <p:spPr>
          <a:xfrm>
            <a:off x="1600200" y="4425696"/>
            <a:ext cx="2743200" cy="731520"/>
          </a:xfrm>
          <a:prstGeom prst="rect">
            <a:avLst/>
          </a:prstGeom>
          <a:noFill/>
          <a:ln/>
        </p:spPr>
        <p:txBody>
          <a:bodyPr wrap="square" rtlCol="0" anchor="ctr"/>
          <a:lstStyle/>
          <a:p>
            <a:pPr marL="0" indent="0">
              <a:lnSpc>
                <a:spcPts val="1500"/>
              </a:lnSpc>
              <a:buNone/>
            </a:pPr>
            <a:r>
              <a:rPr lang="en-US" sz="1400" b="1" dirty="0">
                <a:solidFill>
                  <a:srgbClr val="1E2761"/>
                </a:solidFill>
                <a:latin typeface="Calibri" pitchFamily="34" charset="0"/>
                <a:ea typeface="Calibri" pitchFamily="34" charset="-122"/>
                <a:cs typeface="Calibri" pitchFamily="34" charset="-120"/>
              </a:rPr>
              <a:t>Hard to explain</a:t>
            </a:r>
            <a:endParaRPr lang="en-US" sz="1400" dirty="0"/>
          </a:p>
        </p:txBody>
      </p:sp>
      <p:sp>
        <p:nvSpPr>
          <p:cNvPr id="24" name="Text 17"/>
          <p:cNvSpPr/>
          <p:nvPr/>
        </p:nvSpPr>
        <p:spPr>
          <a:xfrm>
            <a:off x="4480560" y="4425696"/>
            <a:ext cx="6949440" cy="731520"/>
          </a:xfrm>
          <a:prstGeom prst="rect">
            <a:avLst/>
          </a:prstGeom>
          <a:noFill/>
          <a:ln/>
        </p:spPr>
        <p:txBody>
          <a:bodyPr wrap="square" rtlCol="0" anchor="ctr"/>
          <a:lstStyle/>
          <a:p>
            <a:pPr marL="0" indent="0">
              <a:lnSpc>
                <a:spcPts val="1500"/>
              </a:lnSpc>
              <a:buNone/>
            </a:pPr>
            <a:r>
              <a:rPr lang="en-US" sz="1200" dirty="0">
                <a:solidFill>
                  <a:srgbClr val="1A1A2E"/>
                </a:solidFill>
                <a:latin typeface="Calibri" pitchFamily="34" charset="0"/>
                <a:ea typeface="Calibri" pitchFamily="34" charset="-122"/>
                <a:cs typeface="Calibri" pitchFamily="34" charset="-120"/>
              </a:rPr>
              <a:t>Complex models can score higher, but they are harder to explain to bank managers.</a:t>
            </a:r>
            <a:endParaRPr lang="en-US" sz="1200" dirty="0"/>
          </a:p>
          <a:p>
            <a:pPr marL="0" indent="0">
              <a:lnSpc>
                <a:spcPts val="1500"/>
              </a:lnSpc>
              <a:spcBef>
                <a:spcPts val="300"/>
              </a:spcBef>
              <a:buNone/>
            </a:pPr>
            <a:r>
              <a:rPr lang="en-US" sz="1200" dirty="0" b="1">
                <a:solidFill>
                  <a:srgbClr val="1E2761"/>
                </a:solidFill>
                <a:latin typeface="Calibri" pitchFamily="34" charset="0"/>
                <a:ea typeface="Calibri" pitchFamily="34" charset="-122"/>
                <a:cs typeface="Calibri" pitchFamily="34" charset="-120"/>
              </a:rPr>
              <a:t>Our plan:  </a:t>
            </a:r>
            <a:r>
              <a:rPr lang="en-US" sz="1200" dirty="0" b="0">
                <a:solidFill>
                  <a:srgbClr val="1A1A2E"/>
                </a:solidFill>
                <a:latin typeface="Calibri" pitchFamily="34" charset="0"/>
                <a:ea typeface="Calibri" pitchFamily="34" charset="-122"/>
                <a:cs typeface="Calibri" pitchFamily="34" charset="-120"/>
              </a:rPr>
              <a:t>compare simple, explainable models with stronger ones.</a:t>
            </a:r>
            <a:endParaRPr lang="en-US" sz="1200" dirty="0"/>
          </a:p>
        </p:txBody>
      </p:sp>
      <p:sp>
        <p:nvSpPr>
          <p:cNvPr id="25" name="Shape 18"/>
          <p:cNvSpPr/>
          <p:nvPr/>
        </p:nvSpPr>
        <p:spPr>
          <a:xfrm>
            <a:off x="548640" y="5321808"/>
            <a:ext cx="11064240" cy="914400"/>
          </a:xfrm>
          <a:prstGeom prst="roundRect">
            <a:avLst>
              <a:gd name="adj" fmla="val 7000"/>
            </a:avLst>
          </a:prstGeom>
          <a:solidFill>
            <a:srgbClr val="EEF3FC"/>
          </a:solidFill>
          <a:ln/>
        </p:spPr>
        <p:txBody>
          <a:bodyPr/>
          <a:lstStyle/>
          <a:p>
            <a:endParaRPr lang="en-US"/>
          </a:p>
        </p:txBody>
      </p:sp>
      <p:sp>
        <p:nvSpPr>
          <p:cNvPr id="26" name="Shape 19"/>
          <p:cNvSpPr/>
          <p:nvPr/>
        </p:nvSpPr>
        <p:spPr>
          <a:xfrm>
            <a:off x="777240" y="5486400"/>
            <a:ext cx="585216" cy="585216"/>
          </a:xfrm>
          <a:prstGeom prst="ellipse">
            <a:avLst/>
          </a:prstGeom>
          <a:ln/>
        </p:spPr>
        <p:style>
          <a:lnRef idx="0">
            <a:schemeClr val="accent2"/>
          </a:lnRef>
          <a:fillRef idx="3">
            <a:schemeClr val="accent2"/>
          </a:fillRef>
          <a:effectRef idx="3">
            <a:schemeClr val="accent2"/>
          </a:effectRef>
          <a:fontRef idx="minor">
            <a:schemeClr val="lt1"/>
          </a:fontRef>
        </p:style>
        <p:txBody>
          <a:bodyPr/>
          <a:lstStyle/>
          <a:p>
            <a:endParaRPr lang="en-US"/>
          </a:p>
        </p:txBody>
      </p:sp>
      <p:pic>
        <p:nvPicPr>
          <p:cNvPr id="27" name="Image 5" descr="/home/claude/pptx/icons/alert.png"/>
          <p:cNvPicPr>
            <a:picLocks noChangeAspect="1"/>
          </p:cNvPicPr>
          <p:nvPr/>
        </p:nvPicPr>
        <p:blipFill>
          <a:blip r:embed="rId3"/>
          <a:stretch>
            <a:fillRect/>
          </a:stretch>
        </p:blipFill>
        <p:spPr>
          <a:xfrm>
            <a:off x="929396" y="5638556"/>
            <a:ext cx="280904" cy="280904"/>
          </a:xfrm>
          <a:prstGeom prst="rect">
            <a:avLst/>
          </a:prstGeom>
        </p:spPr>
      </p:pic>
      <p:sp>
        <p:nvSpPr>
          <p:cNvPr id="28" name="Text 20"/>
          <p:cNvSpPr/>
          <p:nvPr/>
        </p:nvSpPr>
        <p:spPr>
          <a:xfrm>
            <a:off x="1600200" y="5413248"/>
            <a:ext cx="2743200" cy="731520"/>
          </a:xfrm>
          <a:prstGeom prst="rect">
            <a:avLst/>
          </a:prstGeom>
          <a:noFill/>
          <a:ln/>
        </p:spPr>
        <p:txBody>
          <a:bodyPr wrap="square" rtlCol="0" anchor="ctr"/>
          <a:lstStyle/>
          <a:p>
            <a:pPr marL="0" indent="0">
              <a:lnSpc>
                <a:spcPts val="1500"/>
              </a:lnSpc>
              <a:buNone/>
            </a:pPr>
            <a:r>
              <a:rPr lang="en-US" sz="1400" b="1" dirty="0">
                <a:solidFill>
                  <a:srgbClr val="1E2761"/>
                </a:solidFill>
                <a:latin typeface="Calibri" pitchFamily="34" charset="0"/>
                <a:ea typeface="Calibri" pitchFamily="34" charset="-122"/>
                <a:cs typeface="Calibri" pitchFamily="34" charset="-120"/>
              </a:rPr>
              <a:t>One place and time</a:t>
            </a:r>
            <a:endParaRPr lang="en-US" sz="1400" dirty="0"/>
          </a:p>
        </p:txBody>
      </p:sp>
      <p:sp>
        <p:nvSpPr>
          <p:cNvPr id="29" name="Text 21"/>
          <p:cNvSpPr/>
          <p:nvPr/>
        </p:nvSpPr>
        <p:spPr>
          <a:xfrm>
            <a:off x="4480560" y="5413248"/>
            <a:ext cx="6949440" cy="731520"/>
          </a:xfrm>
          <a:prstGeom prst="rect">
            <a:avLst/>
          </a:prstGeom>
          <a:noFill/>
          <a:ln/>
        </p:spPr>
        <p:txBody>
          <a:bodyPr wrap="square" rtlCol="0" anchor="ctr"/>
          <a:lstStyle/>
          <a:p>
            <a:pPr marL="0" indent="0">
              <a:lnSpc>
                <a:spcPts val="1500"/>
              </a:lnSpc>
              <a:buNone/>
            </a:pPr>
            <a:r>
              <a:rPr lang="en-US" sz="1200" dirty="0">
                <a:solidFill>
                  <a:srgbClr val="1A1A2E"/>
                </a:solidFill>
                <a:latin typeface="Calibri" pitchFamily="34" charset="0"/>
                <a:ea typeface="Calibri" pitchFamily="34" charset="-122"/>
                <a:cs typeface="Calibri" pitchFamily="34" charset="-120"/>
              </a:rPr>
              <a:t>The data is from Taiwanese companies, 1999–2009. Results may be different in other countries or years.</a:t>
            </a:r>
            <a:endParaRPr lang="en-US" sz="1200" dirty="0"/>
          </a:p>
          <a:p>
            <a:pPr marL="0" indent="0">
              <a:lnSpc>
                <a:spcPts val="1500"/>
              </a:lnSpc>
              <a:spcBef>
                <a:spcPts val="300"/>
              </a:spcBef>
              <a:buNone/>
            </a:pPr>
            <a:r>
              <a:rPr lang="en-US" sz="1200" dirty="0" b="1">
                <a:solidFill>
                  <a:srgbClr val="1E2761"/>
                </a:solidFill>
                <a:latin typeface="Calibri" pitchFamily="34" charset="0"/>
                <a:ea typeface="Calibri" pitchFamily="34" charset="-122"/>
                <a:cs typeface="Calibri" pitchFamily="34" charset="-120"/>
              </a:rPr>
              <a:t>Our plan:  </a:t>
            </a:r>
            <a:r>
              <a:rPr lang="en-US" sz="1200" dirty="0" b="0">
                <a:solidFill>
                  <a:srgbClr val="1A1A2E"/>
                </a:solidFill>
                <a:latin typeface="Calibri" pitchFamily="34" charset="0"/>
                <a:ea typeface="Calibri" pitchFamily="34" charset="-122"/>
                <a:cs typeface="Calibri" pitchFamily="34" charset="-120"/>
              </a:rPr>
              <a:t>say this limit clearly in our report.</a:t>
            </a:r>
            <a:endParaRPr lang="en-US" sz="1200" dirty="0"/>
          </a:p>
        </p:txBody>
      </p:sp>
      <p:sp>
        <p:nvSpPr>
          <p:cNvPr id="30" name="Text 22"/>
          <p:cNvSpPr/>
          <p:nvPr/>
        </p:nvSpPr>
        <p:spPr>
          <a:xfrm>
            <a:off x="11503152" y="6473952"/>
            <a:ext cx="365760" cy="274320"/>
          </a:xfrm>
          <a:prstGeom prst="rect">
            <a:avLst/>
          </a:prstGeom>
          <a:noFill/>
          <a:ln/>
        </p:spPr>
        <p:txBody>
          <a:bodyPr wrap="square" rtlCol="0" anchor="ctr"/>
          <a:lstStyle/>
          <a:p>
            <a:pPr marL="0" indent="0" algn="r">
              <a:buNone/>
            </a:pPr>
            <a:r>
              <a:rPr lang="en-US" sz="900" dirty="0">
                <a:solidFill>
                  <a:srgbClr val="5B6472"/>
                </a:solidFill>
              </a:rPr>
              <a:t>7</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411480"/>
            <a:ext cx="8229600" cy="64008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Our Proposed ML Pipeline</a:t>
            </a:r>
            <a:endParaRPr lang="en-US" sz="3200" dirty="0"/>
          </a:p>
        </p:txBody>
      </p:sp>
      <p:sp>
        <p:nvSpPr>
          <p:cNvPr id="3" name="Shape 1"/>
          <p:cNvSpPr/>
          <p:nvPr/>
        </p:nvSpPr>
        <p:spPr>
          <a:xfrm>
            <a:off x="10607040" y="411480"/>
            <a:ext cx="822960" cy="822960"/>
          </a:xfrm>
          <a:prstGeom prst="ellipse">
            <a:avLst/>
          </a:prstGeom>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4" name="Image 0" descr="/home/claude/pptx/icons/cogs.png"/>
          <p:cNvPicPr>
            <a:picLocks noChangeAspect="1"/>
          </p:cNvPicPr>
          <p:nvPr/>
        </p:nvPicPr>
        <p:blipFill>
          <a:blip r:embed="rId3">
            <a:lum bright="70000" contrast="-70000"/>
          </a:blip>
          <a:stretch>
            <a:fillRect/>
          </a:stretch>
        </p:blipFill>
        <p:spPr>
          <a:xfrm>
            <a:off x="10821010" y="625450"/>
            <a:ext cx="395021" cy="395021"/>
          </a:xfrm>
          <a:prstGeom prst="rect">
            <a:avLst/>
          </a:prstGeom>
        </p:spPr>
      </p:pic>
      <p:sp>
        <p:nvSpPr>
          <p:cNvPr id="5" name="Shape 2"/>
          <p:cNvSpPr/>
          <p:nvPr/>
        </p:nvSpPr>
        <p:spPr>
          <a:xfrm>
            <a:off x="548640" y="1874520"/>
            <a:ext cx="2084832" cy="2468880"/>
          </a:xfrm>
          <a:prstGeom prst="roundRect">
            <a:avLst>
              <a:gd name="adj" fmla="val 4386"/>
            </a:avLst>
          </a:prstGeom>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Text 3"/>
          <p:cNvSpPr/>
          <p:nvPr/>
        </p:nvSpPr>
        <p:spPr>
          <a:xfrm>
            <a:off x="658368" y="1965960"/>
            <a:ext cx="640080" cy="365760"/>
          </a:xfrm>
          <a:prstGeom prst="rect">
            <a:avLst/>
          </a:prstGeom>
          <a:noFill/>
          <a:ln/>
        </p:spPr>
        <p:txBody>
          <a:bodyPr wrap="square" rtlCol="0" anchor="ctr"/>
          <a:lstStyle/>
          <a:p>
            <a:pPr marL="0" indent="0">
              <a:buNone/>
            </a:pPr>
            <a:r>
              <a:rPr lang="en-US" sz="1300" b="1" dirty="0">
                <a:solidFill>
                  <a:srgbClr val="C9A227"/>
                </a:solidFill>
                <a:latin typeface="Calibri" pitchFamily="34" charset="0"/>
                <a:ea typeface="Calibri" pitchFamily="34" charset="-122"/>
                <a:cs typeface="Calibri" pitchFamily="34" charset="-120"/>
              </a:rPr>
              <a:t>1</a:t>
            </a:r>
            <a:endParaRPr lang="en-US" sz="1300" dirty="0"/>
          </a:p>
        </p:txBody>
      </p:sp>
      <p:sp>
        <p:nvSpPr>
          <p:cNvPr id="7" name="Shape 4"/>
          <p:cNvSpPr/>
          <p:nvPr/>
        </p:nvSpPr>
        <p:spPr>
          <a:xfrm>
            <a:off x="1225296" y="2258568"/>
            <a:ext cx="731520" cy="731520"/>
          </a:xfrm>
          <a:prstGeom prst="ellipse">
            <a:avLst/>
          </a:prstGeom>
          <a:ln/>
        </p:spPr>
        <p:style>
          <a:lnRef idx="3">
            <a:schemeClr val="lt1"/>
          </a:lnRef>
          <a:fillRef idx="1">
            <a:schemeClr val="accent5"/>
          </a:fillRef>
          <a:effectRef idx="1">
            <a:schemeClr val="accent5"/>
          </a:effectRef>
          <a:fontRef idx="minor">
            <a:schemeClr val="lt1"/>
          </a:fontRef>
        </p:style>
        <p:txBody>
          <a:bodyPr/>
          <a:lstStyle/>
          <a:p>
            <a:endParaRPr lang="en-US"/>
          </a:p>
        </p:txBody>
      </p:sp>
      <p:pic>
        <p:nvPicPr>
          <p:cNvPr id="8" name="Image 1" descr="/home/claude/pptx/icons/database.png"/>
          <p:cNvPicPr>
            <a:picLocks noChangeAspect="1"/>
          </p:cNvPicPr>
          <p:nvPr/>
        </p:nvPicPr>
        <p:blipFill>
          <a:blip r:embed="rId4">
            <a:lum bright="70000" contrast="-70000"/>
          </a:blip>
          <a:stretch>
            <a:fillRect/>
          </a:stretch>
        </p:blipFill>
        <p:spPr>
          <a:xfrm>
            <a:off x="1415491" y="2448763"/>
            <a:ext cx="351130" cy="351130"/>
          </a:xfrm>
          <a:prstGeom prst="rect">
            <a:avLst/>
          </a:prstGeom>
        </p:spPr>
      </p:pic>
      <p:sp>
        <p:nvSpPr>
          <p:cNvPr id="9" name="Text 5"/>
          <p:cNvSpPr/>
          <p:nvPr/>
        </p:nvSpPr>
        <p:spPr>
          <a:xfrm>
            <a:off x="658368" y="3108960"/>
            <a:ext cx="1865376"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Clean data</a:t>
            </a:r>
            <a:endParaRPr lang="en-US" sz="1400" dirty="0"/>
          </a:p>
        </p:txBody>
      </p:sp>
      <p:sp>
        <p:nvSpPr>
          <p:cNvPr id="10" name="Text 6"/>
          <p:cNvSpPr/>
          <p:nvPr/>
        </p:nvSpPr>
        <p:spPr>
          <a:xfrm>
            <a:off x="713232" y="3566160"/>
            <a:ext cx="1755648" cy="731520"/>
          </a:xfrm>
          <a:prstGeom prst="rect">
            <a:avLst/>
          </a:prstGeom>
          <a:noFill/>
          <a:ln/>
        </p:spPr>
        <p:txBody>
          <a:bodyPr wrap="square" rtlCol="0" anchor="ctr"/>
          <a:lstStyle/>
          <a:p>
            <a:pPr marL="0" indent="0" algn="ctr">
              <a:lnSpc>
                <a:spcPts val="1300"/>
              </a:lnSpc>
              <a:buNone/>
            </a:pPr>
            <a:r>
              <a:rPr lang="en-US" sz="1000" dirty="0">
                <a:solidFill>
                  <a:srgbClr val="EEF3FC"/>
                </a:solidFill>
                <a:latin typeface="Calibri" pitchFamily="34" charset="0"/>
                <a:ea typeface="Calibri" pitchFamily="34" charset="-122"/>
                <a:cs typeface="Calibri" pitchFamily="34" charset="-120"/>
              </a:rPr>
              <a:t>Remove the constant column, treat extreme values, scale all ratios to 0–1</a:t>
            </a:r>
            <a:endParaRPr lang="en-US" sz="1000" dirty="0"/>
          </a:p>
        </p:txBody>
      </p:sp>
      <p:sp>
        <p:nvSpPr>
          <p:cNvPr id="11" name="Text 7"/>
          <p:cNvSpPr/>
          <p:nvPr/>
        </p:nvSpPr>
        <p:spPr>
          <a:xfrm>
            <a:off x="2615184" y="2880360"/>
            <a:ext cx="365760" cy="457200"/>
          </a:xfrm>
          <a:prstGeom prst="rect">
            <a:avLst/>
          </a:prstGeom>
          <a:noFill/>
          <a:ln/>
        </p:spPr>
        <p:txBody>
          <a:bodyPr wrap="square" rtlCol="0" anchor="ctr"/>
          <a:lstStyle/>
          <a:p>
            <a:pPr marL="0" indent="0" algn="ctr">
              <a:buNone/>
            </a:pPr>
            <a:r>
              <a:rPr lang="en-US" sz="2000" b="1" dirty="0">
                <a:solidFill>
                  <a:srgbClr val="1E2761"/>
                </a:solidFill>
              </a:rPr>
              <a:t>→</a:t>
            </a:r>
            <a:endParaRPr lang="en-US" sz="2000" dirty="0"/>
          </a:p>
        </p:txBody>
      </p:sp>
      <p:sp>
        <p:nvSpPr>
          <p:cNvPr id="12" name="Shape 8"/>
          <p:cNvSpPr/>
          <p:nvPr/>
        </p:nvSpPr>
        <p:spPr>
          <a:xfrm>
            <a:off x="2798064" y="1874520"/>
            <a:ext cx="2084832" cy="2468880"/>
          </a:xfrm>
          <a:prstGeom prst="roundRect">
            <a:avLst>
              <a:gd name="adj" fmla="val 4386"/>
            </a:avLst>
          </a:prstGeom>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Text 9"/>
          <p:cNvSpPr/>
          <p:nvPr/>
        </p:nvSpPr>
        <p:spPr>
          <a:xfrm>
            <a:off x="2907792" y="1965960"/>
            <a:ext cx="640080" cy="365760"/>
          </a:xfrm>
          <a:prstGeom prst="rect">
            <a:avLst/>
          </a:prstGeom>
          <a:noFill/>
          <a:ln/>
        </p:spPr>
        <p:txBody>
          <a:bodyPr wrap="square" rtlCol="0" anchor="ctr"/>
          <a:lstStyle/>
          <a:p>
            <a:pPr marL="0" indent="0">
              <a:buNone/>
            </a:pPr>
            <a:r>
              <a:rPr lang="en-US" sz="1300" b="1" dirty="0">
                <a:solidFill>
                  <a:srgbClr val="C9A227"/>
                </a:solidFill>
                <a:latin typeface="Calibri" pitchFamily="34" charset="0"/>
                <a:ea typeface="Calibri" pitchFamily="34" charset="-122"/>
                <a:cs typeface="Calibri" pitchFamily="34" charset="-120"/>
              </a:rPr>
              <a:t>2</a:t>
            </a:r>
            <a:endParaRPr lang="en-US" sz="1300" dirty="0"/>
          </a:p>
        </p:txBody>
      </p:sp>
      <p:sp>
        <p:nvSpPr>
          <p:cNvPr id="14" name="Shape 10"/>
          <p:cNvSpPr/>
          <p:nvPr/>
        </p:nvSpPr>
        <p:spPr>
          <a:xfrm>
            <a:off x="3474720" y="2258568"/>
            <a:ext cx="731520" cy="731520"/>
          </a:xfrm>
          <a:prstGeom prst="ellipse">
            <a:avLst/>
          </a:prstGeom>
          <a:ln/>
        </p:spPr>
        <p:style>
          <a:lnRef idx="3">
            <a:schemeClr val="lt1"/>
          </a:lnRef>
          <a:fillRef idx="1">
            <a:schemeClr val="accent5"/>
          </a:fillRef>
          <a:effectRef idx="1">
            <a:schemeClr val="accent5"/>
          </a:effectRef>
          <a:fontRef idx="minor">
            <a:schemeClr val="lt1"/>
          </a:fontRef>
        </p:style>
        <p:txBody>
          <a:bodyPr/>
          <a:lstStyle/>
          <a:p>
            <a:endParaRPr lang="en-US"/>
          </a:p>
        </p:txBody>
      </p:sp>
      <p:pic>
        <p:nvPicPr>
          <p:cNvPr id="15" name="Image 2" descr="/home/claude/pptx/icons/layers.png"/>
          <p:cNvPicPr>
            <a:picLocks noChangeAspect="1"/>
          </p:cNvPicPr>
          <p:nvPr/>
        </p:nvPicPr>
        <p:blipFill>
          <a:blip r:embed="rId5">
            <a:lum bright="70000" contrast="-70000"/>
          </a:blip>
          <a:stretch>
            <a:fillRect/>
          </a:stretch>
        </p:blipFill>
        <p:spPr>
          <a:xfrm>
            <a:off x="3664915" y="2448763"/>
            <a:ext cx="351130" cy="351130"/>
          </a:xfrm>
          <a:prstGeom prst="rect">
            <a:avLst/>
          </a:prstGeom>
        </p:spPr>
      </p:pic>
      <p:sp>
        <p:nvSpPr>
          <p:cNvPr id="16" name="Text 11"/>
          <p:cNvSpPr/>
          <p:nvPr/>
        </p:nvSpPr>
        <p:spPr>
          <a:xfrm>
            <a:off x="2907792" y="3108960"/>
            <a:ext cx="1865376"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Explore (EDA)</a:t>
            </a:r>
            <a:endParaRPr lang="en-US" sz="1400" dirty="0"/>
          </a:p>
        </p:txBody>
      </p:sp>
      <p:sp>
        <p:nvSpPr>
          <p:cNvPr id="17" name="Text 12"/>
          <p:cNvSpPr/>
          <p:nvPr/>
        </p:nvSpPr>
        <p:spPr>
          <a:xfrm>
            <a:off x="2962656" y="3566160"/>
            <a:ext cx="1755648" cy="731520"/>
          </a:xfrm>
          <a:prstGeom prst="rect">
            <a:avLst/>
          </a:prstGeom>
          <a:noFill/>
          <a:ln/>
        </p:spPr>
        <p:txBody>
          <a:bodyPr wrap="square" rtlCol="0" anchor="ctr"/>
          <a:lstStyle/>
          <a:p>
            <a:pPr marL="0" indent="0" algn="ctr">
              <a:lnSpc>
                <a:spcPts val="1300"/>
              </a:lnSpc>
              <a:buNone/>
            </a:pPr>
            <a:r>
              <a:rPr lang="en-US" sz="1000" dirty="0">
                <a:solidFill>
                  <a:srgbClr val="EEF3FC"/>
                </a:solidFill>
                <a:latin typeface="Calibri" pitchFamily="34" charset="0"/>
                <a:ea typeface="Calibri" pitchFamily="34" charset="-122"/>
                <a:cs typeface="Calibri" pitchFamily="34" charset="-120"/>
              </a:rPr>
              <a:t>Look at charts: correlations, how bankrupt and healthy companies differ, a PCA 2D view</a:t>
            </a:r>
            <a:endParaRPr lang="en-US" sz="1000" dirty="0"/>
          </a:p>
        </p:txBody>
      </p:sp>
      <p:sp>
        <p:nvSpPr>
          <p:cNvPr id="18" name="Text 13"/>
          <p:cNvSpPr/>
          <p:nvPr/>
        </p:nvSpPr>
        <p:spPr>
          <a:xfrm>
            <a:off x="4864608" y="2880360"/>
            <a:ext cx="365760" cy="457200"/>
          </a:xfrm>
          <a:prstGeom prst="rect">
            <a:avLst/>
          </a:prstGeom>
          <a:noFill/>
          <a:ln/>
        </p:spPr>
        <p:txBody>
          <a:bodyPr wrap="square" rtlCol="0" anchor="ctr"/>
          <a:lstStyle/>
          <a:p>
            <a:pPr marL="0" indent="0" algn="ctr">
              <a:buNone/>
            </a:pPr>
            <a:r>
              <a:rPr lang="en-US" sz="2000" b="1" dirty="0">
                <a:solidFill>
                  <a:srgbClr val="1E2761"/>
                </a:solidFill>
              </a:rPr>
              <a:t>→</a:t>
            </a:r>
            <a:endParaRPr lang="en-US" sz="2000" dirty="0"/>
          </a:p>
        </p:txBody>
      </p:sp>
      <p:sp>
        <p:nvSpPr>
          <p:cNvPr id="19" name="Shape 14"/>
          <p:cNvSpPr/>
          <p:nvPr/>
        </p:nvSpPr>
        <p:spPr>
          <a:xfrm>
            <a:off x="5047488" y="1874520"/>
            <a:ext cx="2084832" cy="2468880"/>
          </a:xfrm>
          <a:prstGeom prst="roundRect">
            <a:avLst>
              <a:gd name="adj" fmla="val 4386"/>
            </a:avLst>
          </a:prstGeom>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Text 15"/>
          <p:cNvSpPr/>
          <p:nvPr/>
        </p:nvSpPr>
        <p:spPr>
          <a:xfrm>
            <a:off x="5157216" y="1965960"/>
            <a:ext cx="640080" cy="365760"/>
          </a:xfrm>
          <a:prstGeom prst="rect">
            <a:avLst/>
          </a:prstGeom>
          <a:noFill/>
          <a:ln/>
        </p:spPr>
        <p:txBody>
          <a:bodyPr wrap="square" rtlCol="0" anchor="ctr"/>
          <a:lstStyle/>
          <a:p>
            <a:pPr marL="0" indent="0">
              <a:buNone/>
            </a:pPr>
            <a:r>
              <a:rPr lang="en-US" sz="1300" b="1" dirty="0">
                <a:solidFill>
                  <a:srgbClr val="C9A227"/>
                </a:solidFill>
                <a:latin typeface="Calibri" pitchFamily="34" charset="0"/>
                <a:ea typeface="Calibri" pitchFamily="34" charset="-122"/>
                <a:cs typeface="Calibri" pitchFamily="34" charset="-120"/>
              </a:rPr>
              <a:t>3</a:t>
            </a:r>
            <a:endParaRPr lang="en-US" sz="1300" dirty="0"/>
          </a:p>
        </p:txBody>
      </p:sp>
      <p:sp>
        <p:nvSpPr>
          <p:cNvPr id="21" name="Shape 16"/>
          <p:cNvSpPr/>
          <p:nvPr/>
        </p:nvSpPr>
        <p:spPr>
          <a:xfrm>
            <a:off x="5724144" y="2258568"/>
            <a:ext cx="731520" cy="731520"/>
          </a:xfrm>
          <a:prstGeom prst="ellipse">
            <a:avLst/>
          </a:prstGeom>
          <a:ln/>
        </p:spPr>
        <p:style>
          <a:lnRef idx="3">
            <a:schemeClr val="lt1"/>
          </a:lnRef>
          <a:fillRef idx="1">
            <a:schemeClr val="accent5"/>
          </a:fillRef>
          <a:effectRef idx="1">
            <a:schemeClr val="accent5"/>
          </a:effectRef>
          <a:fontRef idx="minor">
            <a:schemeClr val="lt1"/>
          </a:fontRef>
        </p:style>
        <p:txBody>
          <a:bodyPr/>
          <a:lstStyle/>
          <a:p>
            <a:endParaRPr lang="en-US"/>
          </a:p>
        </p:txBody>
      </p:sp>
      <p:pic>
        <p:nvPicPr>
          <p:cNvPr id="22" name="Image 3" descr="/home/claude/pptx/icons/balance.png"/>
          <p:cNvPicPr>
            <a:picLocks noChangeAspect="1"/>
          </p:cNvPicPr>
          <p:nvPr/>
        </p:nvPicPr>
        <p:blipFill>
          <a:blip r:embed="rId6">
            <a:lum bright="70000" contrast="-70000"/>
          </a:blip>
          <a:stretch>
            <a:fillRect/>
          </a:stretch>
        </p:blipFill>
        <p:spPr>
          <a:xfrm>
            <a:off x="5914339" y="2448763"/>
            <a:ext cx="351130" cy="351130"/>
          </a:xfrm>
          <a:prstGeom prst="rect">
            <a:avLst/>
          </a:prstGeom>
        </p:spPr>
      </p:pic>
      <p:sp>
        <p:nvSpPr>
          <p:cNvPr id="23" name="Text 17"/>
          <p:cNvSpPr/>
          <p:nvPr/>
        </p:nvSpPr>
        <p:spPr>
          <a:xfrm>
            <a:off x="5157216" y="3108960"/>
            <a:ext cx="1865376"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Fix imbalance</a:t>
            </a:r>
            <a:endParaRPr lang="en-US" sz="1400" dirty="0"/>
          </a:p>
        </p:txBody>
      </p:sp>
      <p:sp>
        <p:nvSpPr>
          <p:cNvPr id="24" name="Text 18"/>
          <p:cNvSpPr/>
          <p:nvPr/>
        </p:nvSpPr>
        <p:spPr>
          <a:xfrm>
            <a:off x="5212080" y="3566160"/>
            <a:ext cx="1755648" cy="731520"/>
          </a:xfrm>
          <a:prstGeom prst="rect">
            <a:avLst/>
          </a:prstGeom>
          <a:noFill/>
          <a:ln/>
        </p:spPr>
        <p:txBody>
          <a:bodyPr wrap="square" rtlCol="0" anchor="ctr"/>
          <a:lstStyle/>
          <a:p>
            <a:pPr marL="0" indent="0" algn="ctr">
              <a:lnSpc>
                <a:spcPts val="1300"/>
              </a:lnSpc>
              <a:buNone/>
            </a:pPr>
            <a:r>
              <a:rPr lang="en-US" sz="1000" dirty="0">
                <a:solidFill>
                  <a:srgbClr val="EEF3FC"/>
                </a:solidFill>
                <a:latin typeface="Calibri" pitchFamily="34" charset="0"/>
                <a:ea typeface="Calibri" pitchFamily="34" charset="-122"/>
                <a:cs typeface="Calibri" pitchFamily="34" charset="-120"/>
              </a:rPr>
              <a:t>Use class weights or SMOTE (adds example bankrupt companies) on training data only</a:t>
            </a:r>
            <a:endParaRPr lang="en-US" sz="1000" dirty="0"/>
          </a:p>
        </p:txBody>
      </p:sp>
      <p:sp>
        <p:nvSpPr>
          <p:cNvPr id="25" name="Text 19"/>
          <p:cNvSpPr/>
          <p:nvPr/>
        </p:nvSpPr>
        <p:spPr>
          <a:xfrm>
            <a:off x="7114032" y="2880360"/>
            <a:ext cx="365760" cy="457200"/>
          </a:xfrm>
          <a:prstGeom prst="rect">
            <a:avLst/>
          </a:prstGeom>
          <a:noFill/>
          <a:ln/>
        </p:spPr>
        <p:txBody>
          <a:bodyPr wrap="square" rtlCol="0" anchor="ctr"/>
          <a:lstStyle/>
          <a:p>
            <a:pPr marL="0" indent="0" algn="ctr">
              <a:buNone/>
            </a:pPr>
            <a:r>
              <a:rPr lang="en-US" sz="2000" b="1" dirty="0">
                <a:solidFill>
                  <a:srgbClr val="1E2761"/>
                </a:solidFill>
              </a:rPr>
              <a:t>→</a:t>
            </a:r>
            <a:endParaRPr lang="en-US" sz="2000" dirty="0"/>
          </a:p>
        </p:txBody>
      </p:sp>
      <p:sp>
        <p:nvSpPr>
          <p:cNvPr id="26" name="Shape 20"/>
          <p:cNvSpPr/>
          <p:nvPr/>
        </p:nvSpPr>
        <p:spPr>
          <a:xfrm>
            <a:off x="7296912" y="1874520"/>
            <a:ext cx="2084832" cy="2468880"/>
          </a:xfrm>
          <a:prstGeom prst="roundRect">
            <a:avLst>
              <a:gd name="adj" fmla="val 4386"/>
            </a:avLst>
          </a:prstGeom>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Text 21"/>
          <p:cNvSpPr/>
          <p:nvPr/>
        </p:nvSpPr>
        <p:spPr>
          <a:xfrm>
            <a:off x="7406640" y="1965960"/>
            <a:ext cx="640080" cy="365760"/>
          </a:xfrm>
          <a:prstGeom prst="rect">
            <a:avLst/>
          </a:prstGeom>
          <a:noFill/>
          <a:ln/>
        </p:spPr>
        <p:txBody>
          <a:bodyPr wrap="square" rtlCol="0" anchor="ctr"/>
          <a:lstStyle/>
          <a:p>
            <a:pPr marL="0" indent="0">
              <a:buNone/>
            </a:pPr>
            <a:r>
              <a:rPr lang="en-US" sz="1300" b="1" dirty="0">
                <a:solidFill>
                  <a:srgbClr val="C9A227"/>
                </a:solidFill>
                <a:latin typeface="Calibri" pitchFamily="34" charset="0"/>
                <a:ea typeface="Calibri" pitchFamily="34" charset="-122"/>
                <a:cs typeface="Calibri" pitchFamily="34" charset="-120"/>
              </a:rPr>
              <a:t>4</a:t>
            </a:r>
            <a:endParaRPr lang="en-US" sz="1300" dirty="0"/>
          </a:p>
        </p:txBody>
      </p:sp>
      <p:sp>
        <p:nvSpPr>
          <p:cNvPr id="28" name="Shape 22"/>
          <p:cNvSpPr/>
          <p:nvPr/>
        </p:nvSpPr>
        <p:spPr>
          <a:xfrm>
            <a:off x="7973568" y="2258568"/>
            <a:ext cx="731520" cy="731520"/>
          </a:xfrm>
          <a:prstGeom prst="ellipse">
            <a:avLst/>
          </a:prstGeom>
          <a:ln/>
        </p:spPr>
        <p:style>
          <a:lnRef idx="3">
            <a:schemeClr val="lt1"/>
          </a:lnRef>
          <a:fillRef idx="1">
            <a:schemeClr val="accent5"/>
          </a:fillRef>
          <a:effectRef idx="1">
            <a:schemeClr val="accent5"/>
          </a:effectRef>
          <a:fontRef idx="minor">
            <a:schemeClr val="lt1"/>
          </a:fontRef>
        </p:style>
        <p:txBody>
          <a:bodyPr/>
          <a:lstStyle/>
          <a:p>
            <a:endParaRPr lang="en-US"/>
          </a:p>
        </p:txBody>
      </p:sp>
      <p:pic>
        <p:nvPicPr>
          <p:cNvPr id="29" name="Image 4" descr="/home/claude/pptx/icons/cogs.png"/>
          <p:cNvPicPr>
            <a:picLocks noChangeAspect="1"/>
          </p:cNvPicPr>
          <p:nvPr/>
        </p:nvPicPr>
        <p:blipFill>
          <a:blip r:embed="rId3">
            <a:lum bright="70000" contrast="-70000"/>
          </a:blip>
          <a:stretch>
            <a:fillRect/>
          </a:stretch>
        </p:blipFill>
        <p:spPr>
          <a:xfrm>
            <a:off x="8163763" y="2448763"/>
            <a:ext cx="351130" cy="351130"/>
          </a:xfrm>
          <a:prstGeom prst="rect">
            <a:avLst/>
          </a:prstGeom>
        </p:spPr>
      </p:pic>
      <p:sp>
        <p:nvSpPr>
          <p:cNvPr id="30" name="Text 23"/>
          <p:cNvSpPr/>
          <p:nvPr/>
        </p:nvSpPr>
        <p:spPr>
          <a:xfrm>
            <a:off x="7406640" y="3108960"/>
            <a:ext cx="1865376"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Train &amp; tune</a:t>
            </a:r>
            <a:endParaRPr lang="en-US" sz="1400" dirty="0"/>
          </a:p>
        </p:txBody>
      </p:sp>
      <p:sp>
        <p:nvSpPr>
          <p:cNvPr id="31" name="Text 24"/>
          <p:cNvSpPr/>
          <p:nvPr/>
        </p:nvSpPr>
        <p:spPr>
          <a:xfrm>
            <a:off x="7461504" y="3566160"/>
            <a:ext cx="1755648" cy="731520"/>
          </a:xfrm>
          <a:prstGeom prst="rect">
            <a:avLst/>
          </a:prstGeom>
          <a:noFill/>
          <a:ln/>
        </p:spPr>
        <p:txBody>
          <a:bodyPr wrap="square" rtlCol="0" anchor="ctr"/>
          <a:lstStyle/>
          <a:p>
            <a:pPr marL="0" indent="0" algn="ctr">
              <a:lnSpc>
                <a:spcPts val="1300"/>
              </a:lnSpc>
              <a:buNone/>
            </a:pPr>
            <a:r>
              <a:rPr lang="en-US" sz="1000" dirty="0">
                <a:solidFill>
                  <a:srgbClr val="EEF3FC"/>
                </a:solidFill>
                <a:latin typeface="Calibri" pitchFamily="34" charset="0"/>
                <a:ea typeface="Calibri" pitchFamily="34" charset="-122"/>
                <a:cs typeface="Calibri" pitchFamily="34" charset="-120"/>
              </a:rPr>
              <a:t>Train six models: SVM, XGBoost, KNN, Gradient Boosting, AdaBoost, Naive Bayes; tune them</a:t>
            </a:r>
            <a:endParaRPr lang="en-US" sz="1000" dirty="0"/>
          </a:p>
        </p:txBody>
      </p:sp>
      <p:sp>
        <p:nvSpPr>
          <p:cNvPr id="32" name="Text 25"/>
          <p:cNvSpPr/>
          <p:nvPr/>
        </p:nvSpPr>
        <p:spPr>
          <a:xfrm>
            <a:off x="9363456" y="2880360"/>
            <a:ext cx="365760" cy="457200"/>
          </a:xfrm>
          <a:prstGeom prst="rect">
            <a:avLst/>
          </a:prstGeom>
          <a:noFill/>
          <a:ln/>
        </p:spPr>
        <p:txBody>
          <a:bodyPr wrap="square" rtlCol="0" anchor="ctr"/>
          <a:lstStyle/>
          <a:p>
            <a:pPr marL="0" indent="0" algn="ctr">
              <a:buNone/>
            </a:pPr>
            <a:r>
              <a:rPr lang="en-US" sz="2000" b="1" dirty="0">
                <a:solidFill>
                  <a:srgbClr val="1E2761"/>
                </a:solidFill>
              </a:rPr>
              <a:t>→</a:t>
            </a:r>
            <a:endParaRPr lang="en-US" sz="2000" dirty="0"/>
          </a:p>
        </p:txBody>
      </p:sp>
      <p:sp>
        <p:nvSpPr>
          <p:cNvPr id="33" name="Shape 26"/>
          <p:cNvSpPr/>
          <p:nvPr/>
        </p:nvSpPr>
        <p:spPr>
          <a:xfrm>
            <a:off x="9546336" y="1874520"/>
            <a:ext cx="2084832" cy="2468880"/>
          </a:xfrm>
          <a:prstGeom prst="roundRect">
            <a:avLst>
              <a:gd name="adj" fmla="val 4386"/>
            </a:avLst>
          </a:prstGeom>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Text 27"/>
          <p:cNvSpPr/>
          <p:nvPr/>
        </p:nvSpPr>
        <p:spPr>
          <a:xfrm>
            <a:off x="9656064" y="1965960"/>
            <a:ext cx="640080" cy="365760"/>
          </a:xfrm>
          <a:prstGeom prst="rect">
            <a:avLst/>
          </a:prstGeom>
          <a:noFill/>
          <a:ln/>
        </p:spPr>
        <p:txBody>
          <a:bodyPr wrap="square" rtlCol="0" anchor="ctr"/>
          <a:lstStyle/>
          <a:p>
            <a:pPr marL="0" indent="0">
              <a:buNone/>
            </a:pPr>
            <a:r>
              <a:rPr lang="en-US" sz="1300" b="1" dirty="0">
                <a:solidFill>
                  <a:srgbClr val="C9A227"/>
                </a:solidFill>
                <a:latin typeface="Calibri" pitchFamily="34" charset="0"/>
                <a:ea typeface="Calibri" pitchFamily="34" charset="-122"/>
                <a:cs typeface="Calibri" pitchFamily="34" charset="-120"/>
              </a:rPr>
              <a:t>5</a:t>
            </a:r>
            <a:endParaRPr lang="en-US" sz="1300" dirty="0"/>
          </a:p>
        </p:txBody>
      </p:sp>
      <p:sp>
        <p:nvSpPr>
          <p:cNvPr id="35" name="Shape 28"/>
          <p:cNvSpPr/>
          <p:nvPr/>
        </p:nvSpPr>
        <p:spPr>
          <a:xfrm>
            <a:off x="10222992" y="2258568"/>
            <a:ext cx="731520" cy="731520"/>
          </a:xfrm>
          <a:prstGeom prst="ellipse">
            <a:avLst/>
          </a:prstGeom>
          <a:ln/>
        </p:spPr>
        <p:style>
          <a:lnRef idx="3">
            <a:schemeClr val="lt1"/>
          </a:lnRef>
          <a:fillRef idx="1">
            <a:schemeClr val="accent5"/>
          </a:fillRef>
          <a:effectRef idx="1">
            <a:schemeClr val="accent5"/>
          </a:effectRef>
          <a:fontRef idx="minor">
            <a:schemeClr val="lt1"/>
          </a:fontRef>
        </p:style>
        <p:txBody>
          <a:bodyPr/>
          <a:lstStyle/>
          <a:p>
            <a:endParaRPr lang="en-US"/>
          </a:p>
        </p:txBody>
      </p:sp>
      <p:pic>
        <p:nvPicPr>
          <p:cNvPr id="36" name="Image 5" descr="/home/claude/pptx/icons/flag.png"/>
          <p:cNvPicPr>
            <a:picLocks noChangeAspect="1"/>
          </p:cNvPicPr>
          <p:nvPr/>
        </p:nvPicPr>
        <p:blipFill>
          <a:blip r:embed="rId7">
            <a:lum bright="70000" contrast="-70000"/>
          </a:blip>
          <a:stretch>
            <a:fillRect/>
          </a:stretch>
        </p:blipFill>
        <p:spPr>
          <a:xfrm>
            <a:off x="10413187" y="2448763"/>
            <a:ext cx="351130" cy="351130"/>
          </a:xfrm>
          <a:prstGeom prst="rect">
            <a:avLst/>
          </a:prstGeom>
        </p:spPr>
      </p:pic>
      <p:sp>
        <p:nvSpPr>
          <p:cNvPr id="37" name="Text 29"/>
          <p:cNvSpPr/>
          <p:nvPr/>
        </p:nvSpPr>
        <p:spPr>
          <a:xfrm>
            <a:off x="9656064" y="3108960"/>
            <a:ext cx="1865376"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Test &amp; compare</a:t>
            </a:r>
            <a:endParaRPr lang="en-US" sz="1400" dirty="0"/>
          </a:p>
        </p:txBody>
      </p:sp>
      <p:sp>
        <p:nvSpPr>
          <p:cNvPr id="38" name="Text 30"/>
          <p:cNvSpPr/>
          <p:nvPr/>
        </p:nvSpPr>
        <p:spPr>
          <a:xfrm>
            <a:off x="9710928" y="3566160"/>
            <a:ext cx="1755648" cy="731520"/>
          </a:xfrm>
          <a:prstGeom prst="rect">
            <a:avLst/>
          </a:prstGeom>
          <a:noFill/>
          <a:ln/>
        </p:spPr>
        <p:txBody>
          <a:bodyPr wrap="square" rtlCol="0" anchor="ctr"/>
          <a:lstStyle/>
          <a:p>
            <a:pPr marL="0" indent="0" algn="ctr">
              <a:lnSpc>
                <a:spcPts val="1300"/>
              </a:lnSpc>
              <a:buNone/>
            </a:pPr>
            <a:r>
              <a:rPr lang="en-US" sz="1000" dirty="0">
                <a:solidFill>
                  <a:srgbClr val="EEF3FC"/>
                </a:solidFill>
                <a:latin typeface="Calibri" pitchFamily="34" charset="0"/>
                <a:ea typeface="Calibri" pitchFamily="34" charset="-122"/>
                <a:cs typeface="Calibri" pitchFamily="34" charset="-120"/>
              </a:rPr>
              <a:t>Keep a separate test set and use cross-validation. Recall, Precision, F1, ROC-AUC, PR-AUC</a:t>
            </a:r>
            <a:endParaRPr lang="en-US" sz="1000" dirty="0"/>
          </a:p>
        </p:txBody>
      </p:sp>
      <p:sp>
        <p:nvSpPr>
          <p:cNvPr id="39" name="Shape 31"/>
          <p:cNvSpPr/>
          <p:nvPr/>
        </p:nvSpPr>
        <p:spPr>
          <a:xfrm>
            <a:off x="548640" y="4709160"/>
            <a:ext cx="11064240" cy="1417320"/>
          </a:xfrm>
          <a:prstGeom prst="roundRect">
            <a:avLst>
              <a:gd name="adj" fmla="val 5161"/>
            </a:avLst>
          </a:prstGeom>
          <a:solidFill>
            <a:srgbClr val="EEF3FC"/>
          </a:solidFill>
          <a:ln/>
        </p:spPr>
        <p:txBody>
          <a:bodyPr/>
          <a:lstStyle/>
          <a:p>
            <a:endParaRPr lang="en-US"/>
          </a:p>
        </p:txBody>
      </p:sp>
      <p:sp>
        <p:nvSpPr>
          <p:cNvPr id="40" name="Text 32"/>
          <p:cNvSpPr/>
          <p:nvPr/>
        </p:nvSpPr>
        <p:spPr>
          <a:xfrm>
            <a:off x="822960" y="4864608"/>
            <a:ext cx="5120640" cy="36576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Why six models?</a:t>
            </a:r>
            <a:endParaRPr lang="en-US" sz="1350" dirty="0"/>
          </a:p>
        </p:txBody>
      </p:sp>
      <p:sp>
        <p:nvSpPr>
          <p:cNvPr id="41" name="Text 33"/>
          <p:cNvSpPr/>
          <p:nvPr/>
        </p:nvSpPr>
        <p:spPr>
          <a:xfrm>
            <a:off x="822960" y="5193792"/>
            <a:ext cx="5120640" cy="868680"/>
          </a:xfrm>
          <a:prstGeom prst="rect">
            <a:avLst/>
          </a:prstGeom>
          <a:noFill/>
          <a:ln/>
        </p:spPr>
        <p:txBody>
          <a:bodyPr wrap="square" rtlCol="0" anchor="ctr"/>
          <a:lstStyle/>
          <a:p>
            <a:pPr marL="0" indent="0">
              <a:lnSpc>
                <a:spcPts val="1500"/>
              </a:lnSpc>
              <a:buNone/>
            </a:pPr>
            <a:r>
              <a:rPr lang="en-US" sz="1150" dirty="0">
                <a:solidFill>
                  <a:srgbClr val="1A1A2E"/>
                </a:solidFill>
                <a:latin typeface="Calibri" pitchFamily="34" charset="0"/>
                <a:ea typeface="Calibri" pitchFamily="34" charset="-122"/>
                <a:cs typeface="Calibri" pitchFamily="34" charset="-120"/>
              </a:rPr>
              <a:t>Models learn in different ways: simple (KNN, Naive Bayes), all-rounder (SVM), boosting (XGBoost, Gradient Boosting, AdaBoost). Comparing all six shows which fits this data best.</a:t>
            </a:r>
            <a:endParaRPr lang="en-US" sz="1150" dirty="0"/>
          </a:p>
        </p:txBody>
      </p:sp>
      <p:sp>
        <p:nvSpPr>
          <p:cNvPr id="42" name="Shape 34"/>
          <p:cNvSpPr/>
          <p:nvPr/>
        </p:nvSpPr>
        <p:spPr>
          <a:xfrm>
            <a:off x="6263640" y="4864608"/>
            <a:ext cx="0" cy="1097280"/>
          </a:xfrm>
          <a:prstGeom prst="line">
            <a:avLst/>
          </a:prstGeom>
          <a:noFill/>
          <a:ln w="19050">
            <a:solidFill>
              <a:srgbClr val="CADCFC"/>
            </a:solidFill>
            <a:prstDash val="solid"/>
          </a:ln>
        </p:spPr>
        <p:txBody>
          <a:bodyPr/>
          <a:lstStyle/>
          <a:p>
            <a:endParaRPr lang="en-US"/>
          </a:p>
        </p:txBody>
      </p:sp>
      <p:sp>
        <p:nvSpPr>
          <p:cNvPr id="43" name="Text 35"/>
          <p:cNvSpPr/>
          <p:nvPr/>
        </p:nvSpPr>
        <p:spPr>
          <a:xfrm>
            <a:off x="6492240" y="4864608"/>
            <a:ext cx="4937760" cy="36576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Why these metrics?</a:t>
            </a:r>
            <a:endParaRPr lang="en-US" sz="1350" dirty="0"/>
          </a:p>
        </p:txBody>
      </p:sp>
      <p:sp>
        <p:nvSpPr>
          <p:cNvPr id="44" name="Text 36"/>
          <p:cNvSpPr/>
          <p:nvPr/>
        </p:nvSpPr>
        <p:spPr>
          <a:xfrm>
            <a:off x="6492240" y="5193792"/>
            <a:ext cx="4937760" cy="868680"/>
          </a:xfrm>
          <a:prstGeom prst="rect">
            <a:avLst/>
          </a:prstGeom>
          <a:noFill/>
          <a:ln/>
        </p:spPr>
        <p:txBody>
          <a:bodyPr wrap="square" rtlCol="0" anchor="ctr"/>
          <a:lstStyle/>
          <a:p>
            <a:pPr marL="0" indent="0">
              <a:lnSpc>
                <a:spcPts val="1500"/>
              </a:lnSpc>
              <a:buNone/>
            </a:pPr>
            <a:r>
              <a:rPr lang="en-US" sz="1150" dirty="0">
                <a:solidFill>
                  <a:srgbClr val="1A1A2E"/>
                </a:solidFill>
                <a:latin typeface="Calibri" pitchFamily="34" charset="0"/>
                <a:ea typeface="Calibri" pitchFamily="34" charset="-122"/>
                <a:cs typeface="Calibri" pitchFamily="34" charset="-120"/>
              </a:rPr>
              <a:t>Only 3.23% of companies are bankrupt, so accuracy can fool us. Recall shows how many real bankruptcies we catch (missing one costs more than a false alarm). F1 and PR-AUC balance catching and false alarms.</a:t>
            </a:r>
            <a:endParaRPr lang="en-US" sz="1150" dirty="0"/>
          </a:p>
        </p:txBody>
      </p:sp>
      <p:sp>
        <p:nvSpPr>
          <p:cNvPr id="45" name="Text 37"/>
          <p:cNvSpPr/>
          <p:nvPr/>
        </p:nvSpPr>
        <p:spPr>
          <a:xfrm>
            <a:off x="11503152" y="6473952"/>
            <a:ext cx="365760" cy="274320"/>
          </a:xfrm>
          <a:prstGeom prst="rect">
            <a:avLst/>
          </a:prstGeom>
          <a:noFill/>
          <a:ln/>
        </p:spPr>
        <p:txBody>
          <a:bodyPr wrap="square" rtlCol="0" anchor="ctr"/>
          <a:lstStyle/>
          <a:p>
            <a:pPr marL="0" indent="0" algn="r">
              <a:buNone/>
            </a:pPr>
            <a:r>
              <a:rPr lang="en-US" sz="900" dirty="0">
                <a:solidFill>
                  <a:srgbClr val="5B6472"/>
                </a:solidFill>
              </a:rPr>
              <a:t>8</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411480"/>
            <a:ext cx="8229600" cy="64008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Planned AI Tool Usage</a:t>
            </a:r>
            <a:endParaRPr lang="en-US" sz="3200" dirty="0"/>
          </a:p>
        </p:txBody>
      </p:sp>
      <p:sp>
        <p:nvSpPr>
          <p:cNvPr id="3" name="Text 1"/>
          <p:cNvSpPr/>
          <p:nvPr/>
        </p:nvSpPr>
        <p:spPr>
          <a:xfrm>
            <a:off x="548640" y="960120"/>
            <a:ext cx="9601200" cy="365760"/>
          </a:xfrm>
          <a:prstGeom prst="rect">
            <a:avLst/>
          </a:prstGeom>
          <a:noFill/>
          <a:ln/>
        </p:spPr>
        <p:txBody>
          <a:bodyPr wrap="square" rtlCol="0" anchor="ctr"/>
          <a:lstStyle/>
          <a:p>
            <a:pPr marL="0" indent="0">
              <a:buNone/>
            </a:pPr>
            <a:r>
              <a:rPr lang="en-US" sz="1300" i="1" dirty="0">
                <a:solidFill>
                  <a:srgbClr val="5B6472"/>
                </a:solidFill>
              </a:rPr>
              <a:t>Our first plan. The final AI declaration in the group report will show what we really used.</a:t>
            </a:r>
            <a:endParaRPr lang="en-US" sz="1300" dirty="0"/>
          </a:p>
        </p:txBody>
      </p:sp>
      <p:sp>
        <p:nvSpPr>
          <p:cNvPr id="4" name="Shape 2"/>
          <p:cNvSpPr/>
          <p:nvPr/>
        </p:nvSpPr>
        <p:spPr>
          <a:xfrm>
            <a:off x="10607040" y="411480"/>
            <a:ext cx="822960" cy="822960"/>
          </a:xfrm>
          <a:prstGeom prst="ellipse">
            <a:avLst/>
          </a:prstGeom>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5" name="Image 0" descr="/home/claude/pptx/icons/robot.png"/>
          <p:cNvPicPr>
            <a:picLocks noChangeAspect="1"/>
          </p:cNvPicPr>
          <p:nvPr/>
        </p:nvPicPr>
        <p:blipFill>
          <a:blip r:embed="rId3">
            <a:lum bright="70000" contrast="-70000"/>
          </a:blip>
          <a:stretch>
            <a:fillRect/>
          </a:stretch>
        </p:blipFill>
        <p:spPr>
          <a:xfrm>
            <a:off x="10821010" y="625450"/>
            <a:ext cx="395021" cy="395021"/>
          </a:xfrm>
          <a:prstGeom prst="rect">
            <a:avLst/>
          </a:prstGeom>
        </p:spPr>
      </p:pic>
      <p:graphicFrame>
        <p:nvGraphicFramePr>
          <p:cNvPr id="10" name="Table 0"/>
          <p:cNvGraphicFramePr>
            <a:graphicFrameLocks noGrp="1"/>
          </p:cNvGraphicFramePr>
          <p:nvPr>
            <p:extLst>
              <p:ext uri="{D42A27DB-BD31-4B8C-83A1-F6EECF244321}">
                <p14:modId xmlns:p14="http://schemas.microsoft.com/office/powerpoint/2010/main" val="1308717987"/>
              </p:ext>
            </p:extLst>
          </p:nvPr>
        </p:nvGraphicFramePr>
        <p:xfrm>
          <a:off x="548640" y="1600200"/>
          <a:ext cx="11064240" cy="2487168"/>
        </p:xfrm>
        <a:graphic>
          <a:graphicData uri="http://schemas.openxmlformats.org/drawingml/2006/table">
            <a:tbl>
              <a:tblPr>
                <a:tableStyleId>{BDBED569-4797-4DF1-A0F4-6AAB3CD982D8}</a:tableStyleId>
              </a:tblPr>
              <a:tblGrid>
                <a:gridCol w="2194560">
                  <a:extLst>
                    <a:ext uri="{9D8B030D-6E8A-4147-A177-3AD203B41FA5}">
                      <a16:colId xmlns:a16="http://schemas.microsoft.com/office/drawing/2014/main" val="20000"/>
                    </a:ext>
                  </a:extLst>
                </a:gridCol>
                <a:gridCol w="466344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2651760">
                  <a:extLst>
                    <a:ext uri="{9D8B030D-6E8A-4147-A177-3AD203B41FA5}">
                      <a16:colId xmlns:a16="http://schemas.microsoft.com/office/drawing/2014/main" val="20003"/>
                    </a:ext>
                  </a:extLst>
                </a:gridCol>
              </a:tblGrid>
              <a:tr h="621792">
                <a:tc>
                  <a:txBody>
                    <a:bodyPr/>
                    <a:lstStyle/>
                    <a:p>
                      <a:pPr marL="0" indent="0">
                        <a:buNone/>
                      </a:pPr>
                      <a:r>
                        <a:rPr lang="en-US" sz="1250" b="1" dirty="0">
                          <a:solidFill>
                            <a:schemeClr val="tx1"/>
                          </a:solidFill>
                        </a:rPr>
                        <a:t>Tool</a:t>
                      </a:r>
                      <a:endParaRPr lang="en-US" sz="1250" dirty="0">
                        <a:solidFill>
                          <a:schemeClr val="tx1"/>
                        </a:solidFill>
                        <a:latin typeface="Calibri" charset="0"/>
                        <a:ea typeface="Calibri" charset="0"/>
                        <a:cs typeface="Calibri" charset="0"/>
                      </a:endParaRPr>
                    </a:p>
                  </a:txBody>
                  <a:tcPr anchor="ctr"/>
                </a:tc>
                <a:tc>
                  <a:txBody>
                    <a:bodyPr/>
                    <a:lstStyle/>
                    <a:p>
                      <a:pPr marL="0" indent="0">
                        <a:buNone/>
                      </a:pPr>
                      <a:r>
                        <a:rPr lang="en-US" sz="1250" b="1" dirty="0">
                          <a:solidFill>
                            <a:schemeClr val="tx1"/>
                          </a:solidFill>
                        </a:rPr>
                        <a:t>What we plan to use it for</a:t>
                      </a:r>
                      <a:endParaRPr lang="en-US" sz="1250" dirty="0">
                        <a:solidFill>
                          <a:schemeClr val="tx1"/>
                        </a:solidFill>
                        <a:latin typeface="Calibri" charset="0"/>
                        <a:ea typeface="Calibri" charset="0"/>
                        <a:cs typeface="Calibri" charset="0"/>
                      </a:endParaRPr>
                    </a:p>
                  </a:txBody>
                  <a:tcPr anchor="ctr"/>
                </a:tc>
                <a:tc>
                  <a:txBody>
                    <a:bodyPr/>
                    <a:lstStyle/>
                    <a:p>
                      <a:pPr marL="0" indent="0">
                        <a:buNone/>
                      </a:pPr>
                      <a:r>
                        <a:rPr lang="en-US" sz="1250" b="1" dirty="0">
                          <a:solidFill>
                            <a:schemeClr val="tx1"/>
                          </a:solidFill>
                        </a:rPr>
                        <a:t>How much</a:t>
                      </a:r>
                      <a:endParaRPr lang="en-US" sz="1250" dirty="0">
                        <a:solidFill>
                          <a:schemeClr val="tx1"/>
                        </a:solidFill>
                        <a:latin typeface="Calibri" charset="0"/>
                        <a:ea typeface="Calibri" charset="0"/>
                        <a:cs typeface="Calibri" charset="0"/>
                      </a:endParaRPr>
                    </a:p>
                  </a:txBody>
                  <a:tcPr anchor="ctr"/>
                </a:tc>
                <a:tc>
                  <a:txBody>
                    <a:bodyPr/>
                    <a:lstStyle/>
                    <a:p>
                      <a:pPr marL="0" indent="0">
                        <a:buNone/>
                      </a:pPr>
                      <a:r>
                        <a:rPr lang="en-US" sz="1250" b="1" dirty="0">
                          <a:solidFill>
                            <a:schemeClr val="tx1"/>
                          </a:solidFill>
                        </a:rPr>
                        <a:t>How we check it</a:t>
                      </a:r>
                      <a:endParaRPr lang="en-US" sz="1250" dirty="0">
                        <a:solidFill>
                          <a:schemeClr val="tx1"/>
                        </a:solidFill>
                        <a:latin typeface="Calibri" charset="0"/>
                        <a:ea typeface="Calibri" charset="0"/>
                        <a:cs typeface="Calibri" charset="0"/>
                      </a:endParaRPr>
                    </a:p>
                  </a:txBody>
                  <a:tcPr anchor="ctr"/>
                </a:tc>
                <a:extLst>
                  <a:ext uri="{0D108BD9-81ED-4DB2-BD59-A6C34878D82A}">
                    <a16:rowId xmlns:a16="http://schemas.microsoft.com/office/drawing/2014/main" val="10000"/>
                  </a:ext>
                </a:extLst>
              </a:tr>
              <a:tr h="621792">
                <a:tc>
                  <a:txBody>
                    <a:bodyPr/>
                    <a:lstStyle/>
                    <a:p>
                      <a:pPr marL="0" indent="0">
                        <a:buNone/>
                      </a:pPr>
                      <a:r>
                        <a:rPr lang="en-US" sz="1150" dirty="0">
                          <a:solidFill>
                            <a:srgbClr val="1A1A2E"/>
                          </a:solidFill>
                        </a:rPr>
                        <a:t>ChatGPT / Claude</a:t>
                      </a:r>
                      <a:endParaRPr lang="en-US" sz="1150" dirty="0">
                        <a:latin typeface="Calibri" charset="0"/>
                        <a:ea typeface="Calibri" charset="0"/>
                        <a:cs typeface="Calibri" charset="0"/>
                      </a:endParaRPr>
                    </a:p>
                  </a:txBody>
                  <a:tcPr anchor="ctr"/>
                </a:tc>
                <a:tc>
                  <a:txBody>
                    <a:bodyPr/>
                    <a:lstStyle/>
                    <a:p>
                      <a:pPr marL="0" indent="0">
                        <a:buNone/>
                      </a:pPr>
                      <a:r>
                        <a:rPr lang="en-US" sz="1150" dirty="0">
                          <a:solidFill>
                            <a:srgbClr val="1A1A2E"/>
                          </a:solidFill>
                        </a:rPr>
                        <a:t>Help writing and fixing code (pandas, scikit-learn) and drafting EDA code</a:t>
                      </a:r>
                      <a:endParaRPr lang="en-US" sz="1150" dirty="0">
                        <a:latin typeface="Calibri" charset="0"/>
                        <a:ea typeface="Calibri" charset="0"/>
                        <a:cs typeface="Calibri" charset="0"/>
                      </a:endParaRPr>
                    </a:p>
                  </a:txBody>
                  <a:tcPr anchor="ctr"/>
                </a:tc>
                <a:tc>
                  <a:txBody>
                    <a:bodyPr/>
                    <a:lstStyle/>
                    <a:p>
                      <a:pPr marL="0" indent="0">
                        <a:buNone/>
                      </a:pPr>
                      <a:r>
                        <a:rPr lang="en-US" sz="1150" dirty="0">
                          <a:solidFill>
                            <a:srgbClr val="1A1A2E"/>
                          </a:solidFill>
                        </a:rPr>
                        <a:t>Moderate</a:t>
                      </a:r>
                      <a:endParaRPr lang="en-US" sz="1150" dirty="0">
                        <a:latin typeface="Calibri" charset="0"/>
                        <a:ea typeface="Calibri" charset="0"/>
                        <a:cs typeface="Calibri" charset="0"/>
                      </a:endParaRPr>
                    </a:p>
                  </a:txBody>
                  <a:tcPr anchor="ctr"/>
                </a:tc>
                <a:tc>
                  <a:txBody>
                    <a:bodyPr/>
                    <a:lstStyle/>
                    <a:p>
                      <a:pPr marL="0" indent="0">
                        <a:buNone/>
                      </a:pPr>
                      <a:r>
                        <a:rPr lang="en-US" sz="1150" dirty="0">
                          <a:solidFill>
                            <a:srgbClr val="1A1A2E"/>
                          </a:solidFill>
                        </a:rPr>
                        <a:t>We run all the code and check the output ourselves</a:t>
                      </a:r>
                      <a:endParaRPr lang="en-US" sz="1150" dirty="0">
                        <a:latin typeface="Calibri" charset="0"/>
                        <a:ea typeface="Calibri" charset="0"/>
                        <a:cs typeface="Calibri" charset="0"/>
                      </a:endParaRPr>
                    </a:p>
                  </a:txBody>
                  <a:tcPr anchor="ctr"/>
                </a:tc>
                <a:extLst>
                  <a:ext uri="{0D108BD9-81ED-4DB2-BD59-A6C34878D82A}">
                    <a16:rowId xmlns:a16="http://schemas.microsoft.com/office/drawing/2014/main" val="10001"/>
                  </a:ext>
                </a:extLst>
              </a:tr>
              <a:tr h="621792">
                <a:tc>
                  <a:txBody>
                    <a:bodyPr/>
                    <a:lstStyle/>
                    <a:p>
                      <a:pPr marL="0" indent="0">
                        <a:buNone/>
                      </a:pPr>
                      <a:r>
                        <a:rPr lang="en-US" sz="1150" dirty="0">
                          <a:solidFill>
                            <a:srgbClr val="1A1A2E"/>
                          </a:solidFill>
                        </a:rPr>
                        <a:t>ChatGPT / Claude</a:t>
                      </a:r>
                      <a:endParaRPr lang="en-US" sz="1150" dirty="0">
                        <a:latin typeface="Calibri" charset="0"/>
                        <a:ea typeface="Calibri" charset="0"/>
                        <a:cs typeface="Calibri" charset="0"/>
                      </a:endParaRPr>
                    </a:p>
                  </a:txBody>
                  <a:tcPr anchor="ctr"/>
                </a:tc>
                <a:tc>
                  <a:txBody>
                    <a:bodyPr/>
                    <a:lstStyle/>
                    <a:p>
                      <a:pPr marL="0" indent="0">
                        <a:buNone/>
                      </a:pPr>
                      <a:r>
                        <a:rPr lang="en-US" sz="1150" dirty="0">
                          <a:solidFill>
                            <a:srgbClr val="1A1A2E"/>
                          </a:solidFill>
                        </a:rPr>
                        <a:t>Help explaining EDA charts and suggesting useful ratios</a:t>
                      </a:r>
                      <a:endParaRPr lang="en-US" sz="1150" dirty="0">
                        <a:latin typeface="Calibri" charset="0"/>
                        <a:ea typeface="Calibri" charset="0"/>
                        <a:cs typeface="Calibri" charset="0"/>
                      </a:endParaRPr>
                    </a:p>
                  </a:txBody>
                  <a:tcPr anchor="ctr"/>
                </a:tc>
                <a:tc>
                  <a:txBody>
                    <a:bodyPr/>
                    <a:lstStyle/>
                    <a:p>
                      <a:pPr marL="0" indent="0">
                        <a:buNone/>
                      </a:pPr>
                      <a:r>
                        <a:rPr lang="en-US" sz="1150" dirty="0">
                          <a:solidFill>
                            <a:srgbClr val="1A1A2E"/>
                          </a:solidFill>
                        </a:rPr>
                        <a:t>Minimal</a:t>
                      </a:r>
                      <a:endParaRPr lang="en-US" sz="1150" dirty="0">
                        <a:latin typeface="Calibri" charset="0"/>
                        <a:ea typeface="Calibri" charset="0"/>
                        <a:cs typeface="Calibri" charset="0"/>
                      </a:endParaRPr>
                    </a:p>
                  </a:txBody>
                  <a:tcPr anchor="ctr"/>
                </a:tc>
                <a:tc>
                  <a:txBody>
                    <a:bodyPr/>
                    <a:lstStyle/>
                    <a:p>
                      <a:pPr marL="0" indent="0">
                        <a:buNone/>
                      </a:pPr>
                      <a:r>
                        <a:rPr lang="en-US" sz="1150" dirty="0">
                          <a:solidFill>
                            <a:srgbClr val="1A1A2E"/>
                          </a:solidFill>
                        </a:rPr>
                        <a:t>We check against our own charts and what we learned in class</a:t>
                      </a:r>
                      <a:endParaRPr lang="en-US" sz="1150" dirty="0">
                        <a:latin typeface="Calibri" charset="0"/>
                        <a:ea typeface="Calibri" charset="0"/>
                        <a:cs typeface="Calibri" charset="0"/>
                      </a:endParaRPr>
                    </a:p>
                  </a:txBody>
                  <a:tcPr anchor="ctr"/>
                </a:tc>
                <a:extLst>
                  <a:ext uri="{0D108BD9-81ED-4DB2-BD59-A6C34878D82A}">
                    <a16:rowId xmlns:a16="http://schemas.microsoft.com/office/drawing/2014/main" val="10002"/>
                  </a:ext>
                </a:extLst>
              </a:tr>
              <a:tr h="621792">
                <a:tc>
                  <a:txBody>
                    <a:bodyPr/>
                    <a:lstStyle/>
                    <a:p>
                      <a:pPr marL="0" indent="0">
                        <a:buNone/>
                      </a:pPr>
                      <a:r>
                        <a:rPr lang="en-US" sz="1150" dirty="0">
                          <a:solidFill>
                            <a:srgbClr val="1A1A2E"/>
                          </a:solidFill>
                        </a:rPr>
                        <a:t>Grammarly / Claude</a:t>
                      </a:r>
                      <a:endParaRPr lang="en-US" sz="1150" dirty="0">
                        <a:latin typeface="Calibri" charset="0"/>
                        <a:ea typeface="Calibri" charset="0"/>
                        <a:cs typeface="Calibri" charset="0"/>
                      </a:endParaRPr>
                    </a:p>
                  </a:txBody>
                  <a:tcPr anchor="ctr"/>
                </a:tc>
                <a:tc>
                  <a:txBody>
                    <a:bodyPr/>
                    <a:lstStyle/>
                    <a:p>
                      <a:pPr marL="0" indent="0">
                        <a:buNone/>
                      </a:pPr>
                      <a:r>
                        <a:rPr lang="en-US" sz="1150" dirty="0">
                          <a:solidFill>
                            <a:srgbClr val="1A1A2E"/>
                          </a:solidFill>
                        </a:rPr>
                        <a:t>Check spelling, grammar and wording of the report</a:t>
                      </a:r>
                      <a:endParaRPr lang="en-US" sz="1150" dirty="0">
                        <a:latin typeface="Calibri" charset="0"/>
                        <a:ea typeface="Calibri" charset="0"/>
                        <a:cs typeface="Calibri" charset="0"/>
                      </a:endParaRPr>
                    </a:p>
                  </a:txBody>
                  <a:tcPr anchor="ctr"/>
                </a:tc>
                <a:tc>
                  <a:txBody>
                    <a:bodyPr/>
                    <a:lstStyle/>
                    <a:p>
                      <a:pPr marL="0" indent="0">
                        <a:buNone/>
                      </a:pPr>
                      <a:r>
                        <a:rPr lang="en-US" sz="1150" dirty="0">
                          <a:solidFill>
                            <a:srgbClr val="1A1A2E"/>
                          </a:solidFill>
                        </a:rPr>
                        <a:t>Minimal</a:t>
                      </a:r>
                      <a:endParaRPr lang="en-US" sz="1150" dirty="0">
                        <a:latin typeface="Calibri" charset="0"/>
                        <a:ea typeface="Calibri" charset="0"/>
                        <a:cs typeface="Calibri" charset="0"/>
                      </a:endParaRPr>
                    </a:p>
                  </a:txBody>
                  <a:tcPr anchor="ctr"/>
                </a:tc>
                <a:tc>
                  <a:txBody>
                    <a:bodyPr/>
                    <a:lstStyle/>
                    <a:p>
                      <a:pPr marL="0" indent="0">
                        <a:buNone/>
                      </a:pPr>
                      <a:r>
                        <a:rPr lang="en-US" sz="1150" dirty="0">
                          <a:solidFill>
                            <a:srgbClr val="1A1A2E"/>
                          </a:solidFill>
                        </a:rPr>
                        <a:t>The ideas stay ours; AI only improves the wording</a:t>
                      </a:r>
                      <a:endParaRPr lang="en-US" sz="1150" dirty="0">
                        <a:latin typeface="Calibri" charset="0"/>
                        <a:ea typeface="Calibri" charset="0"/>
                        <a:cs typeface="Calibri" charset="0"/>
                      </a:endParaRPr>
                    </a:p>
                  </a:txBody>
                  <a:tcPr anchor="ctr"/>
                </a:tc>
                <a:extLst>
                  <a:ext uri="{0D108BD9-81ED-4DB2-BD59-A6C34878D82A}">
                    <a16:rowId xmlns:a16="http://schemas.microsoft.com/office/drawing/2014/main" val="10003"/>
                  </a:ext>
                </a:extLst>
              </a:tr>
            </a:tbl>
          </a:graphicData>
        </a:graphic>
      </p:graphicFrame>
      <p:sp>
        <p:nvSpPr>
          <p:cNvPr id="7" name="Shape 3"/>
          <p:cNvSpPr/>
          <p:nvPr/>
        </p:nvSpPr>
        <p:spPr>
          <a:xfrm>
            <a:off x="548640" y="4343400"/>
            <a:ext cx="11064240" cy="1234440"/>
          </a:xfrm>
          <a:prstGeom prst="roundRect">
            <a:avLst>
              <a:gd name="adj" fmla="val 5926"/>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a:lstStyle/>
          <a:p>
            <a:endParaRPr lang="en-US"/>
          </a:p>
        </p:txBody>
      </p:sp>
      <p:sp>
        <p:nvSpPr>
          <p:cNvPr id="8" name="Text 4"/>
          <p:cNvSpPr/>
          <p:nvPr/>
        </p:nvSpPr>
        <p:spPr>
          <a:xfrm>
            <a:off x="868680" y="4343400"/>
            <a:ext cx="10424160" cy="1234440"/>
          </a:xfrm>
          <a:prstGeom prst="rect">
            <a:avLst/>
          </a:prstGeom>
          <a:noFill/>
          <a:ln/>
        </p:spPr>
        <p:txBody>
          <a:bodyPr wrap="square" rtlCol="0" anchor="ctr"/>
          <a:lstStyle/>
          <a:p>
            <a:pPr marL="0" indent="0">
              <a:lnSpc>
                <a:spcPts val="1800"/>
              </a:lnSpc>
              <a:buNone/>
            </a:pPr>
            <a:r>
              <a:rPr lang="en-US" sz="1300" b="1" dirty="0">
                <a:solidFill>
                  <a:srgbClr val="FF0000"/>
                </a:solidFill>
                <a:latin typeface="Calibri" pitchFamily="34" charset="0"/>
                <a:ea typeface="Calibri" pitchFamily="34" charset="-122"/>
                <a:cs typeface="Calibri" pitchFamily="34" charset="-120"/>
              </a:rPr>
              <a:t>Our commitment</a:t>
            </a:r>
            <a:r>
              <a:rPr lang="en-US" sz="1300" b="1" dirty="0">
                <a:latin typeface="Calibri" pitchFamily="34" charset="0"/>
                <a:ea typeface="Calibri" pitchFamily="34" charset="-122"/>
                <a:cs typeface="Calibri" pitchFamily="34" charset="-120"/>
              </a:rPr>
              <a:t>:  </a:t>
            </a:r>
            <a:r>
              <a:rPr lang="en-US" sz="1300" dirty="0">
                <a:latin typeface="Calibri" pitchFamily="34" charset="0"/>
                <a:ea typeface="Calibri" pitchFamily="34" charset="-122"/>
                <a:cs typeface="Calibri" pitchFamily="34" charset="-120"/>
              </a:rPr>
              <a:t>No AI tool will give us our final model results, scores or conclusions. We will run and check the code ourselves first. We will also keep a short record of how we use AI, so our final AI declaration is correct.</a:t>
            </a:r>
            <a:endParaRPr lang="en-US" sz="1300" dirty="0"/>
          </a:p>
        </p:txBody>
      </p:sp>
      <p:sp>
        <p:nvSpPr>
          <p:cNvPr id="9" name="Text 5"/>
          <p:cNvSpPr/>
          <p:nvPr/>
        </p:nvSpPr>
        <p:spPr>
          <a:xfrm>
            <a:off x="11503152" y="6473952"/>
            <a:ext cx="365760" cy="274320"/>
          </a:xfrm>
          <a:prstGeom prst="rect">
            <a:avLst/>
          </a:prstGeom>
          <a:noFill/>
          <a:ln/>
        </p:spPr>
        <p:txBody>
          <a:bodyPr wrap="square" rtlCol="0" anchor="ctr"/>
          <a:lstStyle/>
          <a:p>
            <a:pPr marL="0" indent="0" algn="r">
              <a:buNone/>
            </a:pPr>
            <a:r>
              <a:rPr lang="en-US" sz="900" dirty="0">
                <a:solidFill>
                  <a:srgbClr val="5B6472"/>
                </a:solidFill>
              </a:rPr>
              <a:t>9</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411480"/>
            <a:ext cx="8229600" cy="64008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Expected Outcomes</a:t>
            </a:r>
            <a:endParaRPr lang="en-US" sz="3200" dirty="0"/>
          </a:p>
        </p:txBody>
      </p:sp>
      <p:sp>
        <p:nvSpPr>
          <p:cNvPr id="3" name="Text 1"/>
          <p:cNvSpPr/>
          <p:nvPr/>
        </p:nvSpPr>
        <p:spPr>
          <a:xfrm>
            <a:off x="548640" y="960120"/>
            <a:ext cx="9601200" cy="365760"/>
          </a:xfrm>
          <a:prstGeom prst="rect">
            <a:avLst/>
          </a:prstGeom>
          <a:noFill/>
          <a:ln/>
        </p:spPr>
        <p:txBody>
          <a:bodyPr wrap="square" rtlCol="0" anchor="ctr"/>
          <a:lstStyle/>
          <a:p>
            <a:pPr marL="0" indent="0">
              <a:buNone/>
            </a:pPr>
            <a:r>
              <a:rPr lang="en-US" sz="1300" i="1" dirty="0">
                <a:solidFill>
                  <a:srgbClr val="5B6472"/>
                </a:solidFill>
              </a:rPr>
              <a:t>These are our goals. Real results will depend on the work ahead.</a:t>
            </a:r>
            <a:endParaRPr lang="en-US" sz="1300" dirty="0"/>
          </a:p>
        </p:txBody>
      </p:sp>
      <p:sp>
        <p:nvSpPr>
          <p:cNvPr id="4" name="Shape 2"/>
          <p:cNvSpPr/>
          <p:nvPr/>
        </p:nvSpPr>
        <p:spPr>
          <a:xfrm>
            <a:off x="10607040" y="411480"/>
            <a:ext cx="822960" cy="822960"/>
          </a:xfrm>
          <a:prstGeom prst="ellipse">
            <a:avLst/>
          </a:prstGeom>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5" name="Image 0" descr="/home/claude/pptx/icons/flag.png"/>
          <p:cNvPicPr>
            <a:picLocks noChangeAspect="1"/>
          </p:cNvPicPr>
          <p:nvPr/>
        </p:nvPicPr>
        <p:blipFill>
          <a:blip r:embed="rId3">
            <a:lum bright="70000" contrast="-70000"/>
          </a:blip>
          <a:stretch>
            <a:fillRect/>
          </a:stretch>
        </p:blipFill>
        <p:spPr>
          <a:xfrm>
            <a:off x="10821010" y="625450"/>
            <a:ext cx="395021" cy="395021"/>
          </a:xfrm>
          <a:prstGeom prst="rect">
            <a:avLst/>
          </a:prstGeom>
        </p:spPr>
      </p:pic>
      <p:sp>
        <p:nvSpPr>
          <p:cNvPr id="6" name="Shape 3"/>
          <p:cNvSpPr/>
          <p:nvPr/>
        </p:nvSpPr>
        <p:spPr>
          <a:xfrm>
            <a:off x="548640" y="1600200"/>
            <a:ext cx="502920" cy="502920"/>
          </a:xfrm>
          <a:prstGeom prst="ellipse">
            <a:avLst/>
          </a:prstGeom>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7" name="Image 1" descr="/home/claude/pptx/icons/check.png"/>
          <p:cNvPicPr>
            <a:picLocks noChangeAspect="1"/>
          </p:cNvPicPr>
          <p:nvPr/>
        </p:nvPicPr>
        <p:blipFill>
          <a:blip r:embed="rId4">
            <a:lum bright="70000" contrast="-70000"/>
          </a:blip>
          <a:stretch>
            <a:fillRect/>
          </a:stretch>
        </p:blipFill>
        <p:spPr>
          <a:xfrm>
            <a:off x="679399" y="1730959"/>
            <a:ext cx="241402" cy="241402"/>
          </a:xfrm>
          <a:prstGeom prst="rect">
            <a:avLst/>
          </a:prstGeom>
        </p:spPr>
      </p:pic>
      <p:sp>
        <p:nvSpPr>
          <p:cNvPr id="8" name="Text 4"/>
          <p:cNvSpPr/>
          <p:nvPr/>
        </p:nvSpPr>
        <p:spPr>
          <a:xfrm>
            <a:off x="1234440" y="1527048"/>
            <a:ext cx="10332720" cy="685800"/>
          </a:xfrm>
          <a:prstGeom prst="rect">
            <a:avLst/>
          </a:prstGeom>
          <a:noFill/>
          <a:ln/>
        </p:spPr>
        <p:txBody>
          <a:bodyPr wrap="square" rtlCol="0" anchor="ctr"/>
          <a:lstStyle/>
          <a:p>
            <a:pPr marL="0" indent="0">
              <a:lnSpc>
                <a:spcPts val="1800"/>
              </a:lnSpc>
              <a:buNone/>
            </a:pPr>
            <a:r>
              <a:rPr lang="en-US" sz="1400" dirty="0">
                <a:solidFill>
                  <a:srgbClr val="1A1A2E"/>
                </a:solidFill>
                <a:latin typeface="Calibri" pitchFamily="34" charset="0"/>
                <a:ea typeface="Calibri" pitchFamily="34" charset="-122"/>
                <a:cs typeface="Calibri" pitchFamily="34" charset="-120"/>
              </a:rPr>
              <a:t>A clean, well-explained dataset, with clear choices for extreme values, scaling and feature selection.</a:t>
            </a:r>
            <a:endParaRPr lang="en-US" sz="1400" dirty="0"/>
          </a:p>
        </p:txBody>
      </p:sp>
      <p:sp>
        <p:nvSpPr>
          <p:cNvPr id="9" name="Shape 5"/>
          <p:cNvSpPr/>
          <p:nvPr/>
        </p:nvSpPr>
        <p:spPr>
          <a:xfrm>
            <a:off x="548640" y="2468880"/>
            <a:ext cx="502920" cy="502920"/>
          </a:xfrm>
          <a:prstGeom prst="ellipse">
            <a:avLst/>
          </a:prstGeom>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0" name="Image 2" descr="/home/claude/pptx/icons/check.png"/>
          <p:cNvPicPr>
            <a:picLocks noChangeAspect="1"/>
          </p:cNvPicPr>
          <p:nvPr/>
        </p:nvPicPr>
        <p:blipFill>
          <a:blip r:embed="rId4">
            <a:lum bright="70000" contrast="-70000"/>
          </a:blip>
          <a:stretch>
            <a:fillRect/>
          </a:stretch>
        </p:blipFill>
        <p:spPr>
          <a:xfrm>
            <a:off x="679399" y="2599639"/>
            <a:ext cx="241402" cy="241402"/>
          </a:xfrm>
          <a:prstGeom prst="rect">
            <a:avLst/>
          </a:prstGeom>
        </p:spPr>
      </p:pic>
      <p:sp>
        <p:nvSpPr>
          <p:cNvPr id="11" name="Text 6"/>
          <p:cNvSpPr/>
          <p:nvPr/>
        </p:nvSpPr>
        <p:spPr>
          <a:xfrm>
            <a:off x="1234440" y="2395728"/>
            <a:ext cx="10332720" cy="685800"/>
          </a:xfrm>
          <a:prstGeom prst="rect">
            <a:avLst/>
          </a:prstGeom>
          <a:noFill/>
          <a:ln/>
        </p:spPr>
        <p:txBody>
          <a:bodyPr wrap="square" rtlCol="0" anchor="ctr"/>
          <a:lstStyle/>
          <a:p>
            <a:pPr marL="0" indent="0">
              <a:lnSpc>
                <a:spcPts val="1800"/>
              </a:lnSpc>
              <a:buNone/>
            </a:pPr>
            <a:r>
              <a:rPr lang="en-US" sz="1400" dirty="0">
                <a:solidFill>
                  <a:srgbClr val="1A1A2E"/>
                </a:solidFill>
                <a:latin typeface="Calibri" pitchFamily="34" charset="0"/>
                <a:ea typeface="Calibri" pitchFamily="34" charset="-122"/>
                <a:cs typeface="Calibri" pitchFamily="34" charset="-120"/>
              </a:rPr>
              <a:t>Six tuned models that beat a simple “always say not bankrupt” baseline, especially at finding bankrupt companies (recall).</a:t>
            </a:r>
            <a:endParaRPr lang="en-US" sz="1400" dirty="0"/>
          </a:p>
        </p:txBody>
      </p:sp>
      <p:sp>
        <p:nvSpPr>
          <p:cNvPr id="12" name="Shape 7"/>
          <p:cNvSpPr/>
          <p:nvPr/>
        </p:nvSpPr>
        <p:spPr>
          <a:xfrm>
            <a:off x="548640" y="3337560"/>
            <a:ext cx="502920" cy="502920"/>
          </a:xfrm>
          <a:prstGeom prst="ellipse">
            <a:avLst/>
          </a:prstGeom>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3" name="Image 3" descr="/home/claude/pptx/icons/check.png"/>
          <p:cNvPicPr>
            <a:picLocks noChangeAspect="1"/>
          </p:cNvPicPr>
          <p:nvPr/>
        </p:nvPicPr>
        <p:blipFill>
          <a:blip r:embed="rId4">
            <a:lum bright="70000" contrast="-70000"/>
          </a:blip>
          <a:stretch>
            <a:fillRect/>
          </a:stretch>
        </p:blipFill>
        <p:spPr>
          <a:xfrm>
            <a:off x="679399" y="3468319"/>
            <a:ext cx="241402" cy="241402"/>
          </a:xfrm>
          <a:prstGeom prst="rect">
            <a:avLst/>
          </a:prstGeom>
        </p:spPr>
      </p:pic>
      <p:sp>
        <p:nvSpPr>
          <p:cNvPr id="14" name="Text 8"/>
          <p:cNvSpPr/>
          <p:nvPr/>
        </p:nvSpPr>
        <p:spPr>
          <a:xfrm>
            <a:off x="1234440" y="3264408"/>
            <a:ext cx="10332720" cy="685800"/>
          </a:xfrm>
          <a:prstGeom prst="rect">
            <a:avLst/>
          </a:prstGeom>
          <a:noFill/>
          <a:ln/>
        </p:spPr>
        <p:txBody>
          <a:bodyPr wrap="square" rtlCol="0" anchor="ctr"/>
          <a:lstStyle/>
          <a:p>
            <a:pPr marL="0" indent="0">
              <a:lnSpc>
                <a:spcPts val="1800"/>
              </a:lnSpc>
              <a:buNone/>
            </a:pPr>
            <a:r>
              <a:rPr lang="en-US" sz="1400" dirty="0">
                <a:solidFill>
                  <a:srgbClr val="1A1A2E"/>
                </a:solidFill>
                <a:latin typeface="Calibri" pitchFamily="34" charset="0"/>
                <a:ea typeface="Calibri" pitchFamily="34" charset="-122"/>
                <a:cs typeface="Calibri" pitchFamily="34" charset="-120"/>
              </a:rPr>
              <a:t>A fair comparison of the six models, simple and easy to explain vs. stronger and more complex: accuracy vs. explainability.</a:t>
            </a:r>
            <a:endParaRPr lang="en-US" sz="1400" dirty="0"/>
          </a:p>
        </p:txBody>
      </p:sp>
      <p:sp>
        <p:nvSpPr>
          <p:cNvPr id="15" name="Shape 9"/>
          <p:cNvSpPr/>
          <p:nvPr/>
        </p:nvSpPr>
        <p:spPr>
          <a:xfrm>
            <a:off x="548640" y="4206240"/>
            <a:ext cx="502920" cy="502920"/>
          </a:xfrm>
          <a:prstGeom prst="ellipse">
            <a:avLst/>
          </a:prstGeom>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6" name="Image 4" descr="/home/claude/pptx/icons/check.png"/>
          <p:cNvPicPr>
            <a:picLocks noChangeAspect="1"/>
          </p:cNvPicPr>
          <p:nvPr/>
        </p:nvPicPr>
        <p:blipFill>
          <a:blip r:embed="rId4">
            <a:lum bright="70000" contrast="-70000"/>
          </a:blip>
          <a:stretch>
            <a:fillRect/>
          </a:stretch>
        </p:blipFill>
        <p:spPr>
          <a:xfrm>
            <a:off x="679399" y="4336999"/>
            <a:ext cx="241402" cy="241402"/>
          </a:xfrm>
          <a:prstGeom prst="rect">
            <a:avLst/>
          </a:prstGeom>
        </p:spPr>
      </p:pic>
      <p:sp>
        <p:nvSpPr>
          <p:cNvPr id="17" name="Text 10"/>
          <p:cNvSpPr/>
          <p:nvPr/>
        </p:nvSpPr>
        <p:spPr>
          <a:xfrm>
            <a:off x="1234440" y="4133088"/>
            <a:ext cx="10332720" cy="685800"/>
          </a:xfrm>
          <a:prstGeom prst="rect">
            <a:avLst/>
          </a:prstGeom>
          <a:noFill/>
          <a:ln/>
        </p:spPr>
        <p:txBody>
          <a:bodyPr wrap="square" rtlCol="0" anchor="ctr"/>
          <a:lstStyle/>
          <a:p>
            <a:pPr marL="0" indent="0">
              <a:lnSpc>
                <a:spcPts val="1800"/>
              </a:lnSpc>
              <a:buNone/>
            </a:pPr>
            <a:r>
              <a:rPr lang="en-US" sz="1400" dirty="0">
                <a:solidFill>
                  <a:srgbClr val="1A1A2E"/>
                </a:solidFill>
                <a:latin typeface="Calibri" pitchFamily="34" charset="0"/>
                <a:ea typeface="Calibri" pitchFamily="34" charset="-122"/>
                <a:cs typeface="Calibri" pitchFamily="34" charset="-120"/>
              </a:rPr>
              <a:t>A list of the financial ratios most linked to bankruptcy risk.</a:t>
            </a:r>
            <a:endParaRPr lang="en-US" sz="1400" dirty="0"/>
          </a:p>
        </p:txBody>
      </p:sp>
      <p:sp>
        <p:nvSpPr>
          <p:cNvPr id="18" name="Shape 11"/>
          <p:cNvSpPr/>
          <p:nvPr/>
        </p:nvSpPr>
        <p:spPr>
          <a:xfrm>
            <a:off x="548640" y="5074920"/>
            <a:ext cx="502920" cy="502920"/>
          </a:xfrm>
          <a:prstGeom prst="ellipse">
            <a:avLst/>
          </a:prstGeom>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9" name="Image 5" descr="/home/claude/pptx/icons/check.png"/>
          <p:cNvPicPr>
            <a:picLocks noChangeAspect="1"/>
          </p:cNvPicPr>
          <p:nvPr/>
        </p:nvPicPr>
        <p:blipFill>
          <a:blip r:embed="rId4">
            <a:lum bright="70000" contrast="-70000"/>
          </a:blip>
          <a:stretch>
            <a:fillRect/>
          </a:stretch>
        </p:blipFill>
        <p:spPr>
          <a:xfrm>
            <a:off x="679399" y="5205679"/>
            <a:ext cx="241402" cy="241402"/>
          </a:xfrm>
          <a:prstGeom prst="rect">
            <a:avLst/>
          </a:prstGeom>
        </p:spPr>
      </p:pic>
      <p:sp>
        <p:nvSpPr>
          <p:cNvPr id="20" name="Text 12"/>
          <p:cNvSpPr/>
          <p:nvPr/>
        </p:nvSpPr>
        <p:spPr>
          <a:xfrm>
            <a:off x="1234440" y="5001768"/>
            <a:ext cx="10332720" cy="685800"/>
          </a:xfrm>
          <a:prstGeom prst="rect">
            <a:avLst/>
          </a:prstGeom>
          <a:noFill/>
          <a:ln/>
        </p:spPr>
        <p:txBody>
          <a:bodyPr wrap="square" rtlCol="0" anchor="ctr"/>
          <a:lstStyle/>
          <a:p>
            <a:pPr marL="0" indent="0">
              <a:lnSpc>
                <a:spcPts val="1800"/>
              </a:lnSpc>
              <a:buNone/>
            </a:pPr>
            <a:r>
              <a:rPr lang="en-US" sz="1400" dirty="0">
                <a:solidFill>
                  <a:srgbClr val="1A1A2E"/>
                </a:solidFill>
                <a:latin typeface="Calibri" pitchFamily="34" charset="0"/>
                <a:ea typeface="Calibri" pitchFamily="34" charset="-122"/>
                <a:cs typeface="Calibri" pitchFamily="34" charset="-120"/>
              </a:rPr>
              <a:t>A short discussion of ethics: fairness, bias, and whether the results work on other data.</a:t>
            </a:r>
            <a:endParaRPr lang="en-US" sz="1400" dirty="0"/>
          </a:p>
        </p:txBody>
      </p:sp>
      <p:sp>
        <p:nvSpPr>
          <p:cNvPr id="21" name="Text 13"/>
          <p:cNvSpPr/>
          <p:nvPr/>
        </p:nvSpPr>
        <p:spPr>
          <a:xfrm>
            <a:off x="11503152" y="6473952"/>
            <a:ext cx="365760" cy="274320"/>
          </a:xfrm>
          <a:prstGeom prst="rect">
            <a:avLst/>
          </a:prstGeom>
          <a:noFill/>
          <a:ln/>
        </p:spPr>
        <p:txBody>
          <a:bodyPr wrap="square" rtlCol="0" anchor="ctr"/>
          <a:lstStyle/>
          <a:p>
            <a:pPr marL="0" indent="0" algn="r">
              <a:buNone/>
            </a:pPr>
            <a:r>
              <a:rPr lang="en-US" sz="900" dirty="0">
                <a:solidFill>
                  <a:srgbClr val="5B6472"/>
                </a:solidFill>
              </a:rPr>
              <a:t>10</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773E6B7-608D-0EF2-49F8-E838D8A73051}"/>
              </a:ext>
            </a:extLst>
          </p:cNvPr>
          <p:cNvSpPr/>
          <p:nvPr/>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hape 1"/>
          <p:cNvSpPr/>
          <p:nvPr/>
        </p:nvSpPr>
        <p:spPr>
          <a:xfrm>
            <a:off x="-1565490" y="1985506"/>
            <a:ext cx="6725640" cy="6725640"/>
          </a:xfrm>
          <a:prstGeom prst="ellipse">
            <a:avLst/>
          </a:prstGeom>
          <a:ln/>
        </p:spPr>
        <p:style>
          <a:lnRef idx="0">
            <a:schemeClr val="accent1"/>
          </a:lnRef>
          <a:fillRef idx="3">
            <a:schemeClr val="accent1"/>
          </a:fillRef>
          <a:effectRef idx="3">
            <a:schemeClr val="accent1"/>
          </a:effectRef>
          <a:fontRef idx="minor">
            <a:schemeClr val="lt1"/>
          </a:fontRef>
        </p:style>
        <p:txBody>
          <a:bodyPr/>
          <a:lstStyle/>
          <a:p>
            <a:endParaRPr lang="en-US"/>
          </a:p>
        </p:txBody>
      </p:sp>
      <p:sp>
        <p:nvSpPr>
          <p:cNvPr id="2" name="Shape 0"/>
          <p:cNvSpPr/>
          <p:nvPr/>
        </p:nvSpPr>
        <p:spPr>
          <a:xfrm>
            <a:off x="9692640" y="-1463040"/>
            <a:ext cx="4206240" cy="4206240"/>
          </a:xfrm>
          <a:prstGeom prst="ellipse">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a:lstStyle/>
          <a:p>
            <a:endParaRPr lang="en-US"/>
          </a:p>
        </p:txBody>
      </p:sp>
      <p:sp>
        <p:nvSpPr>
          <p:cNvPr id="4" name="Text 2"/>
          <p:cNvSpPr/>
          <p:nvPr/>
        </p:nvSpPr>
        <p:spPr>
          <a:xfrm>
            <a:off x="822960" y="1371600"/>
            <a:ext cx="9144000" cy="640080"/>
          </a:xfrm>
          <a:prstGeom prst="rect">
            <a:avLst/>
          </a:prstGeom>
          <a:noFill/>
          <a:ln/>
        </p:spPr>
        <p:txBody>
          <a:bodyPr wrap="square" rtlCol="0" anchor="ctr"/>
          <a:lstStyle/>
          <a:p>
            <a:pPr marL="0" indent="0">
              <a:buNone/>
            </a:pPr>
            <a:r>
              <a:rPr lang="en-US" sz="1600" b="1" kern="0" spc="200" dirty="0">
                <a:solidFill>
                  <a:srgbClr val="C9A227"/>
                </a:solidFill>
                <a:latin typeface="Calibri" pitchFamily="34" charset="0"/>
                <a:ea typeface="Calibri" pitchFamily="34" charset="-122"/>
                <a:cs typeface="Calibri" pitchFamily="34" charset="-120"/>
              </a:rPr>
              <a:t>In Summary</a:t>
            </a:r>
            <a:endParaRPr lang="en-US" sz="1600" dirty="0"/>
          </a:p>
        </p:txBody>
      </p:sp>
      <p:sp>
        <p:nvSpPr>
          <p:cNvPr id="5" name="Text 3"/>
          <p:cNvSpPr/>
          <p:nvPr/>
        </p:nvSpPr>
        <p:spPr>
          <a:xfrm>
            <a:off x="822960" y="1920240"/>
            <a:ext cx="9875520" cy="1463040"/>
          </a:xfrm>
          <a:prstGeom prst="rect">
            <a:avLst/>
          </a:prstGeom>
          <a:noFill/>
          <a:ln/>
        </p:spPr>
        <p:txBody>
          <a:bodyPr wrap="square" rtlCol="0" anchor="ctr"/>
          <a:lstStyle/>
          <a:p>
            <a:pPr marL="0" indent="0">
              <a:lnSpc>
                <a:spcPct val="115000"/>
              </a:lnSpc>
              <a:buNone/>
            </a:pPr>
            <a:r>
              <a:rPr lang="en-US" sz="3200" b="1" dirty="0">
                <a:solidFill>
                  <a:srgbClr val="FFFFFF"/>
                </a:solidFill>
                <a:latin typeface="Cambria" pitchFamily="34" charset="0"/>
                <a:ea typeface="Cambria" pitchFamily="34" charset="-122"/>
                <a:cs typeface="Cambria" pitchFamily="34" charset="-120"/>
              </a:rPr>
              <a:t>A real finance problem, a suitable dataset,</a:t>
            </a:r>
            <a:endParaRPr lang="en-US" sz="3200" dirty="0"/>
          </a:p>
          <a:p>
            <a:pPr marL="0" indent="0">
              <a:lnSpc>
                <a:spcPct val="115000"/>
              </a:lnSpc>
              <a:buNone/>
            </a:pPr>
            <a:r>
              <a:rPr lang="en-US" sz="3200" b="1" dirty="0">
                <a:solidFill>
                  <a:srgbClr val="FFFFFF"/>
                </a:solidFill>
                <a:latin typeface="Cambria" pitchFamily="34" charset="0"/>
                <a:ea typeface="Cambria" pitchFamily="34" charset="-122"/>
                <a:cs typeface="Cambria" pitchFamily="34" charset="-120"/>
              </a:rPr>
              <a:t>and a clear plan to get there.</a:t>
            </a:r>
            <a:endParaRPr lang="en-US" sz="3200" dirty="0"/>
          </a:p>
        </p:txBody>
      </p:sp>
      <p:sp>
        <p:nvSpPr>
          <p:cNvPr id="6" name="Text 4"/>
          <p:cNvSpPr/>
          <p:nvPr/>
        </p:nvSpPr>
        <p:spPr>
          <a:xfrm>
            <a:off x="822960" y="3520440"/>
            <a:ext cx="8961120" cy="914400"/>
          </a:xfrm>
          <a:prstGeom prst="rect">
            <a:avLst/>
          </a:prstGeom>
          <a:noFill/>
          <a:ln/>
        </p:spPr>
        <p:txBody>
          <a:bodyPr wrap="square" rtlCol="0" anchor="ctr"/>
          <a:lstStyle/>
          <a:p>
            <a:pPr marL="0" indent="0">
              <a:lnSpc>
                <a:spcPts val="1900"/>
              </a:lnSpc>
              <a:buNone/>
            </a:pPr>
            <a:r>
              <a:rPr lang="en-US" sz="1400" i="1" dirty="0">
                <a:solidFill>
                  <a:srgbClr val="EEF3FC"/>
                </a:solidFill>
                <a:latin typeface="Calibri" pitchFamily="34" charset="0"/>
                <a:ea typeface="Calibri" pitchFamily="34" charset="-122"/>
                <a:cs typeface="Calibri" pitchFamily="34" charset="-120"/>
              </a:rPr>
              <a:t>Our data has 6,819 companies and 95 financial ratios, but only 3.23% went bankrupt. We will clean the data, handle the imbalance, compare six models, and report honestly. We welcome your feedback.</a:t>
            </a:r>
            <a:endParaRPr lang="en-US" sz="1400" dirty="0"/>
          </a:p>
        </p:txBody>
      </p:sp>
      <p:sp>
        <p:nvSpPr>
          <p:cNvPr id="7" name="Shape 5"/>
          <p:cNvSpPr/>
          <p:nvPr/>
        </p:nvSpPr>
        <p:spPr>
          <a:xfrm>
            <a:off x="822960" y="4709160"/>
            <a:ext cx="2926080" cy="0"/>
          </a:xfrm>
          <a:prstGeom prst="line">
            <a:avLst/>
          </a:prstGeom>
          <a:noFill/>
          <a:ln w="25400">
            <a:solidFill>
              <a:srgbClr val="C9A227"/>
            </a:solidFill>
            <a:prstDash val="solid"/>
          </a:ln>
        </p:spPr>
        <p:txBody>
          <a:bodyPr/>
          <a:lstStyle/>
          <a:p>
            <a:endParaRPr lang="en-US"/>
          </a:p>
        </p:txBody>
      </p:sp>
      <p:sp>
        <p:nvSpPr>
          <p:cNvPr id="8" name="Text 6"/>
          <p:cNvSpPr/>
          <p:nvPr/>
        </p:nvSpPr>
        <p:spPr>
          <a:xfrm>
            <a:off x="822960" y="4937760"/>
            <a:ext cx="7315200" cy="54864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Thank You — Questions Welcome</a:t>
            </a:r>
            <a:endParaRPr lang="en-US" sz="2000" dirty="0"/>
          </a:p>
        </p:txBody>
      </p:sp>
      <p:sp>
        <p:nvSpPr>
          <p:cNvPr id="9" name="Shape 7"/>
          <p:cNvSpPr/>
          <p:nvPr/>
        </p:nvSpPr>
        <p:spPr>
          <a:xfrm>
            <a:off x="10195560" y="5074920"/>
            <a:ext cx="1051560" cy="1051560"/>
          </a:xfrm>
          <a:prstGeom prst="ellipse">
            <a:avLst/>
          </a:prstGeom>
          <a:ln/>
        </p:spPr>
        <p:style>
          <a:lnRef idx="0">
            <a:schemeClr val="accent5"/>
          </a:lnRef>
          <a:fillRef idx="3">
            <a:schemeClr val="accent5"/>
          </a:fillRef>
          <a:effectRef idx="3">
            <a:schemeClr val="accent5"/>
          </a:effectRef>
          <a:fontRef idx="minor">
            <a:schemeClr val="lt1"/>
          </a:fontRef>
        </p:style>
        <p:txBody>
          <a:bodyPr/>
          <a:lstStyle/>
          <a:p>
            <a:endParaRPr lang="en-US"/>
          </a:p>
        </p:txBody>
      </p:sp>
      <p:pic>
        <p:nvPicPr>
          <p:cNvPr id="10" name="Image 0" descr="/home/claude/pptx/icons/building.png"/>
          <p:cNvPicPr>
            <a:picLocks noChangeAspect="1"/>
          </p:cNvPicPr>
          <p:nvPr/>
        </p:nvPicPr>
        <p:blipFill>
          <a:blip r:embed="rId3">
            <a:lum bright="70000" contrast="-70000"/>
          </a:blip>
          <a:stretch>
            <a:fillRect/>
          </a:stretch>
        </p:blipFill>
        <p:spPr>
          <a:xfrm>
            <a:off x="10468966" y="5348326"/>
            <a:ext cx="504749" cy="50474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59</TotalTime>
  <Words>1101</Words>
  <Application>Microsoft Office PowerPoint</Application>
  <PresentationFormat>Widescreen</PresentationFormat>
  <Paragraphs>165</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Kevin Harshana</cp:lastModifiedBy>
  <cp:revision>5</cp:revision>
  <dcterms:created xsi:type="dcterms:W3CDTF">2026-08-01T01:56:09Z</dcterms:created>
  <dcterms:modified xsi:type="dcterms:W3CDTF">2026-10-07T09:10:22Z</dcterms:modified>
</cp:coreProperties>
</file>